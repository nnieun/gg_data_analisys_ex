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27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F"/>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E3A5F"/>
          </a:solidFill>
          <a:ln/>
        </p:spPr>
      </p:sp>
      <p:sp>
        <p:nvSpPr>
          <p:cNvPr id="3" name="Shape 1"/>
          <p:cNvSpPr/>
          <p:nvPr/>
        </p:nvSpPr>
        <p:spPr>
          <a:xfrm>
            <a:off x="10881360" y="4572000"/>
            <a:ext cx="2743200" cy="2743200"/>
          </a:xfrm>
          <a:prstGeom prst="ellipse">
            <a:avLst/>
          </a:prstGeom>
          <a:solidFill>
            <a:srgbClr val="1E3A5F"/>
          </a:solidFill>
          <a:ln/>
        </p:spPr>
      </p:sp>
      <p:sp>
        <p:nvSpPr>
          <p:cNvPr id="4" name="Shape 2"/>
          <p:cNvSpPr/>
          <p:nvPr/>
        </p:nvSpPr>
        <p:spPr>
          <a:xfrm>
            <a:off x="-1097280" y="5120640"/>
            <a:ext cx="3108960" cy="3108960"/>
          </a:xfrm>
          <a:prstGeom prst="ellipse">
            <a:avLst/>
          </a:prstGeom>
          <a:solidFill>
            <a:srgbClr val="1E3A5F"/>
          </a:solidFill>
          <a:ln/>
        </p:spPr>
      </p:sp>
      <p:sp>
        <p:nvSpPr>
          <p:cNvPr id="5" name="Text 3"/>
          <p:cNvSpPr/>
          <p:nvPr/>
        </p:nvSpPr>
        <p:spPr>
          <a:xfrm>
            <a:off x="822960" y="1965960"/>
            <a:ext cx="8229600" cy="365760"/>
          </a:xfrm>
          <a:prstGeom prst="rect">
            <a:avLst/>
          </a:prstGeom>
          <a:noFill/>
          <a:ln/>
        </p:spPr>
        <p:txBody>
          <a:bodyPr wrap="square" rtlCol="0" anchor="ctr"/>
          <a:lstStyle/>
          <a:p>
            <a:pPr marL="0" indent="0">
              <a:buNone/>
            </a:pPr>
            <a:r>
              <a:rPr lang="en-US" sz="1300" b="1" kern="0" spc="200" dirty="0">
                <a:solidFill>
                  <a:srgbClr val="C9932E"/>
                </a:solidFill>
                <a:latin typeface="Calibri" pitchFamily="34" charset="0"/>
                <a:ea typeface="Calibri" pitchFamily="34" charset="-122"/>
                <a:cs typeface="Calibri" pitchFamily="34" charset="-120"/>
              </a:rPr>
              <a:t>PYEONGTAEK POPULATION INSIGHT · 2016–2026</a:t>
            </a:r>
            <a:endParaRPr lang="en-US" sz="1300" dirty="0"/>
          </a:p>
        </p:txBody>
      </p:sp>
      <p:sp>
        <p:nvSpPr>
          <p:cNvPr id="6" name="Text 4"/>
          <p:cNvSpPr/>
          <p:nvPr/>
        </p:nvSpPr>
        <p:spPr>
          <a:xfrm>
            <a:off x="777240" y="2331720"/>
            <a:ext cx="10058400" cy="100584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우리 지역 인구와 연령대별 인구 분포</a:t>
            </a:r>
            <a:endParaRPr lang="en-US" sz="4200" dirty="0"/>
          </a:p>
        </p:txBody>
      </p:sp>
      <p:sp>
        <p:nvSpPr>
          <p:cNvPr id="7" name="Text 5"/>
          <p:cNvSpPr/>
          <p:nvPr/>
        </p:nvSpPr>
        <p:spPr>
          <a:xfrm>
            <a:off x="822960" y="3246120"/>
            <a:ext cx="9144000" cy="548640"/>
          </a:xfrm>
          <a:prstGeom prst="rect">
            <a:avLst/>
          </a:prstGeom>
          <a:noFill/>
          <a:ln/>
        </p:spPr>
        <p:txBody>
          <a:bodyPr wrap="square" rtlCol="0" anchor="ctr"/>
          <a:lstStyle/>
          <a:p>
            <a:pPr marL="0" indent="0">
              <a:buNone/>
            </a:pPr>
            <a:r>
              <a:rPr lang="en-US" sz="1800" dirty="0">
                <a:solidFill>
                  <a:srgbClr val="EDF1F5"/>
                </a:solidFill>
                <a:latin typeface="Calibri" pitchFamily="34" charset="0"/>
                <a:ea typeface="Calibri" pitchFamily="34" charset="-122"/>
                <a:cs typeface="Calibri" pitchFamily="34" charset="-120"/>
              </a:rPr>
              <a:t>데이터로 읽는 평택시의 양극화, 그리고 정책 제안</a:t>
            </a:r>
            <a:endParaRPr lang="en-US" sz="1800" dirty="0"/>
          </a:p>
        </p:txBody>
      </p:sp>
      <p:sp>
        <p:nvSpPr>
          <p:cNvPr id="8" name="Shape 6"/>
          <p:cNvSpPr/>
          <p:nvPr/>
        </p:nvSpPr>
        <p:spPr>
          <a:xfrm>
            <a:off x="822960" y="3977640"/>
            <a:ext cx="2011680" cy="0"/>
          </a:xfrm>
          <a:prstGeom prst="line">
            <a:avLst/>
          </a:prstGeom>
          <a:noFill/>
          <a:ln w="25400">
            <a:solidFill>
              <a:srgbClr val="C9932E"/>
            </a:solidFill>
            <a:prstDash val="solid"/>
          </a:ln>
        </p:spPr>
      </p:sp>
      <p:sp>
        <p:nvSpPr>
          <p:cNvPr id="9" name="Text 7"/>
          <p:cNvSpPr/>
          <p:nvPr/>
        </p:nvSpPr>
        <p:spPr>
          <a:xfrm>
            <a:off x="822960" y="4160520"/>
            <a:ext cx="8229600" cy="365760"/>
          </a:xfrm>
          <a:prstGeom prst="rect">
            <a:avLst/>
          </a:prstGeom>
          <a:noFill/>
          <a:ln/>
        </p:spPr>
        <p:txBody>
          <a:bodyPr wrap="square" rtlCol="0" anchor="ctr"/>
          <a:lstStyle/>
          <a:p>
            <a:pPr marL="0" indent="0">
              <a:buNone/>
            </a:pPr>
            <a:r>
              <a:rPr lang="en-US" sz="1300" dirty="0">
                <a:solidFill>
                  <a:srgbClr val="8A93A0"/>
                </a:solidFill>
                <a:latin typeface="Calibri" pitchFamily="34" charset="0"/>
                <a:ea typeface="Calibri" pitchFamily="34" charset="-122"/>
                <a:cs typeface="Calibri" pitchFamily="34" charset="-120"/>
              </a:rPr>
              <a:t>문제정의 → 데이터 분석 → 핵심 포커스 → 정책 제안</a:t>
            </a:r>
            <a:endParaRPr lang="en-US" sz="1300" dirty="0"/>
          </a:p>
        </p:txBody>
      </p:sp>
      <p:sp>
        <p:nvSpPr>
          <p:cNvPr id="10" name="Text 8"/>
          <p:cNvSpPr/>
          <p:nvPr/>
        </p:nvSpPr>
        <p:spPr>
          <a:xfrm>
            <a:off x="822960" y="6172200"/>
            <a:ext cx="8229600" cy="320040"/>
          </a:xfrm>
          <a:prstGeom prst="rect">
            <a:avLst/>
          </a:prstGeom>
          <a:noFill/>
          <a:ln/>
        </p:spPr>
        <p:txBody>
          <a:bodyPr wrap="square" rtlCol="0" anchor="ctr"/>
          <a:lstStyle/>
          <a:p>
            <a:pPr marL="0" indent="0">
              <a:buNone/>
            </a:pPr>
            <a:r>
              <a:rPr lang="en-US" sz="1100" dirty="0">
                <a:solidFill>
                  <a:srgbClr val="8A93A0"/>
                </a:solidFill>
                <a:latin typeface="Calibri" pitchFamily="34" charset="0"/>
                <a:ea typeface="Calibri" pitchFamily="34" charset="-122"/>
                <a:cs typeface="Calibri" pitchFamily="34" charset="-120"/>
              </a:rPr>
              <a:t>2026. 08.  |  평택시 주민등록인구 · 연령별인구현황 데이터 분석</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83F"/>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365760"/>
          </a:xfrm>
          <a:prstGeom prst="rect">
            <a:avLst/>
          </a:prstGeom>
          <a:noFill/>
          <a:ln/>
        </p:spPr>
        <p:txBody>
          <a:bodyPr wrap="square" rtlCol="0" anchor="ctr"/>
          <a:lstStyle/>
          <a:p>
            <a:pPr marL="0" indent="0">
              <a:buNone/>
            </a:pPr>
            <a:r>
              <a:rPr lang="en-US" sz="1300" b="1" kern="0" spc="300" dirty="0">
                <a:solidFill>
                  <a:srgbClr val="C9932E"/>
                </a:solidFill>
                <a:latin typeface="Calibri" pitchFamily="34" charset="0"/>
                <a:ea typeface="Calibri" pitchFamily="34" charset="-122"/>
                <a:cs typeface="Calibri" pitchFamily="34" charset="-120"/>
              </a:rPr>
              <a:t>CONTENTS</a:t>
            </a:r>
            <a:endParaRPr lang="en-US" sz="1300" dirty="0"/>
          </a:p>
        </p:txBody>
      </p:sp>
      <p:sp>
        <p:nvSpPr>
          <p:cNvPr id="3" name="Text 1"/>
          <p:cNvSpPr/>
          <p:nvPr/>
        </p:nvSpPr>
        <p:spPr>
          <a:xfrm>
            <a:off x="548640" y="822960"/>
            <a:ext cx="5486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목차</a:t>
            </a:r>
            <a:endParaRPr lang="en-US" sz="3400" dirty="0"/>
          </a:p>
        </p:txBody>
      </p:sp>
      <p:sp>
        <p:nvSpPr>
          <p:cNvPr id="4" name="Text 2"/>
          <p:cNvSpPr/>
          <p:nvPr/>
        </p:nvSpPr>
        <p:spPr>
          <a:xfrm>
            <a:off x="685800" y="2148840"/>
            <a:ext cx="1005840" cy="822960"/>
          </a:xfrm>
          <a:prstGeom prst="rect">
            <a:avLst/>
          </a:prstGeom>
          <a:noFill/>
          <a:ln/>
        </p:spPr>
        <p:txBody>
          <a:bodyPr wrap="square" rtlCol="0" anchor="ctr"/>
          <a:lstStyle/>
          <a:p>
            <a:pPr marL="0" indent="0">
              <a:buNone/>
            </a:pPr>
            <a:r>
              <a:rPr lang="en-US" sz="3000" b="1" dirty="0">
                <a:solidFill>
                  <a:srgbClr val="4A6284"/>
                </a:solidFill>
                <a:latin typeface="Cambria" pitchFamily="34" charset="0"/>
                <a:ea typeface="Cambria" pitchFamily="34" charset="-122"/>
                <a:cs typeface="Cambria" pitchFamily="34" charset="-120"/>
              </a:rPr>
              <a:t>01</a:t>
            </a:r>
            <a:endParaRPr lang="en-US" sz="3000" dirty="0"/>
          </a:p>
        </p:txBody>
      </p:sp>
      <p:sp>
        <p:nvSpPr>
          <p:cNvPr id="5" name="Shape 3"/>
          <p:cNvSpPr/>
          <p:nvPr/>
        </p:nvSpPr>
        <p:spPr>
          <a:xfrm>
            <a:off x="1691640" y="2240280"/>
            <a:ext cx="0" cy="685800"/>
          </a:xfrm>
          <a:prstGeom prst="line">
            <a:avLst/>
          </a:prstGeom>
          <a:noFill/>
          <a:ln w="19050">
            <a:solidFill>
              <a:srgbClr val="C9932E"/>
            </a:solidFill>
            <a:prstDash val="solid"/>
          </a:ln>
        </p:spPr>
      </p:sp>
      <p:sp>
        <p:nvSpPr>
          <p:cNvPr id="6" name="Text 4"/>
          <p:cNvSpPr/>
          <p:nvPr/>
        </p:nvSpPr>
        <p:spPr>
          <a:xfrm>
            <a:off x="1965960" y="2130552"/>
            <a:ext cx="38404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배경 및 목적</a:t>
            </a:r>
            <a:endParaRPr lang="en-US" sz="2000" dirty="0"/>
          </a:p>
        </p:txBody>
      </p:sp>
      <p:sp>
        <p:nvSpPr>
          <p:cNvPr id="7" name="Text 5"/>
          <p:cNvSpPr/>
          <p:nvPr/>
        </p:nvSpPr>
        <p:spPr>
          <a:xfrm>
            <a:off x="1965960" y="2532888"/>
            <a:ext cx="5943600" cy="365760"/>
          </a:xfrm>
          <a:prstGeom prst="rect">
            <a:avLst/>
          </a:prstGeom>
          <a:noFill/>
          <a:ln/>
        </p:spPr>
        <p:txBody>
          <a:bodyPr wrap="square" rtlCol="0" anchor="ctr"/>
          <a:lstStyle/>
          <a:p>
            <a:pPr marL="0" indent="0">
              <a:buNone/>
            </a:pPr>
            <a:r>
              <a:rPr lang="en-US" sz="1250" dirty="0">
                <a:solidFill>
                  <a:srgbClr val="8A93A0"/>
                </a:solidFill>
                <a:latin typeface="Calibri" pitchFamily="34" charset="0"/>
                <a:ea typeface="Calibri" pitchFamily="34" charset="-122"/>
                <a:cs typeface="Calibri" pitchFamily="34" charset="-120"/>
              </a:rPr>
              <a:t>왜 이 분석을 시작했는가</a:t>
            </a:r>
            <a:endParaRPr lang="en-US" sz="1250" dirty="0"/>
          </a:p>
        </p:txBody>
      </p:sp>
      <p:sp>
        <p:nvSpPr>
          <p:cNvPr id="8" name="Text 6"/>
          <p:cNvSpPr/>
          <p:nvPr/>
        </p:nvSpPr>
        <p:spPr>
          <a:xfrm>
            <a:off x="685800" y="3200400"/>
            <a:ext cx="1005840" cy="822960"/>
          </a:xfrm>
          <a:prstGeom prst="rect">
            <a:avLst/>
          </a:prstGeom>
          <a:noFill/>
          <a:ln/>
        </p:spPr>
        <p:txBody>
          <a:bodyPr wrap="square" rtlCol="0" anchor="ctr"/>
          <a:lstStyle/>
          <a:p>
            <a:pPr marL="0" indent="0">
              <a:buNone/>
            </a:pPr>
            <a:r>
              <a:rPr lang="en-US" sz="3000" b="1" dirty="0">
                <a:solidFill>
                  <a:srgbClr val="4A6284"/>
                </a:solidFill>
                <a:latin typeface="Cambria" pitchFamily="34" charset="0"/>
                <a:ea typeface="Cambria" pitchFamily="34" charset="-122"/>
                <a:cs typeface="Cambria" pitchFamily="34" charset="-120"/>
              </a:rPr>
              <a:t>02</a:t>
            </a:r>
            <a:endParaRPr lang="en-US" sz="3000" dirty="0"/>
          </a:p>
        </p:txBody>
      </p:sp>
      <p:sp>
        <p:nvSpPr>
          <p:cNvPr id="9" name="Shape 7"/>
          <p:cNvSpPr/>
          <p:nvPr/>
        </p:nvSpPr>
        <p:spPr>
          <a:xfrm>
            <a:off x="1691640" y="3291840"/>
            <a:ext cx="0" cy="685800"/>
          </a:xfrm>
          <a:prstGeom prst="line">
            <a:avLst/>
          </a:prstGeom>
          <a:noFill/>
          <a:ln w="19050">
            <a:solidFill>
              <a:srgbClr val="C9932E"/>
            </a:solidFill>
            <a:prstDash val="solid"/>
          </a:ln>
        </p:spPr>
      </p:sp>
      <p:sp>
        <p:nvSpPr>
          <p:cNvPr id="10" name="Text 8"/>
          <p:cNvSpPr/>
          <p:nvPr/>
        </p:nvSpPr>
        <p:spPr>
          <a:xfrm>
            <a:off x="1965960" y="3182112"/>
            <a:ext cx="38404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데이터 분석</a:t>
            </a:r>
            <a:endParaRPr lang="en-US" sz="2000" dirty="0"/>
          </a:p>
        </p:txBody>
      </p:sp>
      <p:sp>
        <p:nvSpPr>
          <p:cNvPr id="11" name="Text 9"/>
          <p:cNvSpPr/>
          <p:nvPr/>
        </p:nvSpPr>
        <p:spPr>
          <a:xfrm>
            <a:off x="1965960" y="3584448"/>
            <a:ext cx="5943600" cy="365760"/>
          </a:xfrm>
          <a:prstGeom prst="rect">
            <a:avLst/>
          </a:prstGeom>
          <a:noFill/>
          <a:ln/>
        </p:spPr>
        <p:txBody>
          <a:bodyPr wrap="square" rtlCol="0" anchor="ctr"/>
          <a:lstStyle/>
          <a:p>
            <a:pPr marL="0" indent="0">
              <a:buNone/>
            </a:pPr>
            <a:r>
              <a:rPr lang="en-US" sz="1250" dirty="0">
                <a:solidFill>
                  <a:srgbClr val="8A93A0"/>
                </a:solidFill>
                <a:latin typeface="Calibri" pitchFamily="34" charset="0"/>
                <a:ea typeface="Calibri" pitchFamily="34" charset="-122"/>
                <a:cs typeface="Calibri" pitchFamily="34" charset="-120"/>
              </a:rPr>
              <a:t>10년 인구 추이 · 동별 비교 · 연령 구조</a:t>
            </a:r>
            <a:endParaRPr lang="en-US" sz="1250" dirty="0"/>
          </a:p>
        </p:txBody>
      </p:sp>
      <p:sp>
        <p:nvSpPr>
          <p:cNvPr id="12" name="Text 10"/>
          <p:cNvSpPr/>
          <p:nvPr/>
        </p:nvSpPr>
        <p:spPr>
          <a:xfrm>
            <a:off x="685800" y="4251960"/>
            <a:ext cx="1005840" cy="822960"/>
          </a:xfrm>
          <a:prstGeom prst="rect">
            <a:avLst/>
          </a:prstGeom>
          <a:noFill/>
          <a:ln/>
        </p:spPr>
        <p:txBody>
          <a:bodyPr wrap="square" rtlCol="0" anchor="ctr"/>
          <a:lstStyle/>
          <a:p>
            <a:pPr marL="0" indent="0">
              <a:buNone/>
            </a:pPr>
            <a:r>
              <a:rPr lang="en-US" sz="3000" b="1" dirty="0">
                <a:solidFill>
                  <a:srgbClr val="4A6284"/>
                </a:solidFill>
                <a:latin typeface="Cambria" pitchFamily="34" charset="0"/>
                <a:ea typeface="Cambria" pitchFamily="34" charset="-122"/>
                <a:cs typeface="Cambria" pitchFamily="34" charset="-120"/>
              </a:rPr>
              <a:t>03</a:t>
            </a:r>
            <a:endParaRPr lang="en-US" sz="3000" dirty="0"/>
          </a:p>
        </p:txBody>
      </p:sp>
      <p:sp>
        <p:nvSpPr>
          <p:cNvPr id="13" name="Shape 11"/>
          <p:cNvSpPr/>
          <p:nvPr/>
        </p:nvSpPr>
        <p:spPr>
          <a:xfrm>
            <a:off x="1691640" y="4343400"/>
            <a:ext cx="0" cy="685800"/>
          </a:xfrm>
          <a:prstGeom prst="line">
            <a:avLst/>
          </a:prstGeom>
          <a:noFill/>
          <a:ln w="19050">
            <a:solidFill>
              <a:srgbClr val="C9932E"/>
            </a:solidFill>
            <a:prstDash val="solid"/>
          </a:ln>
        </p:spPr>
      </p:sp>
      <p:sp>
        <p:nvSpPr>
          <p:cNvPr id="14" name="Text 12"/>
          <p:cNvSpPr/>
          <p:nvPr/>
        </p:nvSpPr>
        <p:spPr>
          <a:xfrm>
            <a:off x="1965960" y="4233672"/>
            <a:ext cx="38404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핵심 포커스</a:t>
            </a:r>
            <a:endParaRPr lang="en-US" sz="2000" dirty="0"/>
          </a:p>
        </p:txBody>
      </p:sp>
      <p:sp>
        <p:nvSpPr>
          <p:cNvPr id="15" name="Text 13"/>
          <p:cNvSpPr/>
          <p:nvPr/>
        </p:nvSpPr>
        <p:spPr>
          <a:xfrm>
            <a:off x="1965960" y="4636008"/>
            <a:ext cx="5943600" cy="365760"/>
          </a:xfrm>
          <a:prstGeom prst="rect">
            <a:avLst/>
          </a:prstGeom>
          <a:noFill/>
          <a:ln/>
        </p:spPr>
        <p:txBody>
          <a:bodyPr wrap="square" rtlCol="0" anchor="ctr"/>
          <a:lstStyle/>
          <a:p>
            <a:pPr marL="0" indent="0">
              <a:buNone/>
            </a:pPr>
            <a:r>
              <a:rPr lang="en-US" sz="1250" dirty="0">
                <a:solidFill>
                  <a:srgbClr val="8A93A0"/>
                </a:solidFill>
                <a:latin typeface="Calibri" pitchFamily="34" charset="0"/>
                <a:ea typeface="Calibri" pitchFamily="34" charset="-122"/>
                <a:cs typeface="Calibri" pitchFamily="34" charset="-120"/>
              </a:rPr>
              <a:t>성장–고령화 매트릭스로 본 양극화</a:t>
            </a:r>
            <a:endParaRPr lang="en-US" sz="1250" dirty="0"/>
          </a:p>
        </p:txBody>
      </p:sp>
      <p:sp>
        <p:nvSpPr>
          <p:cNvPr id="16" name="Text 14"/>
          <p:cNvSpPr/>
          <p:nvPr/>
        </p:nvSpPr>
        <p:spPr>
          <a:xfrm>
            <a:off x="685800" y="5303520"/>
            <a:ext cx="1005840" cy="822960"/>
          </a:xfrm>
          <a:prstGeom prst="rect">
            <a:avLst/>
          </a:prstGeom>
          <a:noFill/>
          <a:ln/>
        </p:spPr>
        <p:txBody>
          <a:bodyPr wrap="square" rtlCol="0" anchor="ctr"/>
          <a:lstStyle/>
          <a:p>
            <a:pPr marL="0" indent="0">
              <a:buNone/>
            </a:pPr>
            <a:r>
              <a:rPr lang="en-US" sz="3000" b="1" dirty="0">
                <a:solidFill>
                  <a:srgbClr val="4A6284"/>
                </a:solidFill>
                <a:latin typeface="Cambria" pitchFamily="34" charset="0"/>
                <a:ea typeface="Cambria" pitchFamily="34" charset="-122"/>
                <a:cs typeface="Cambria" pitchFamily="34" charset="-120"/>
              </a:rPr>
              <a:t>04</a:t>
            </a:r>
            <a:endParaRPr lang="en-US" sz="3000" dirty="0"/>
          </a:p>
        </p:txBody>
      </p:sp>
      <p:sp>
        <p:nvSpPr>
          <p:cNvPr id="17" name="Shape 15"/>
          <p:cNvSpPr/>
          <p:nvPr/>
        </p:nvSpPr>
        <p:spPr>
          <a:xfrm>
            <a:off x="1691640" y="5394960"/>
            <a:ext cx="0" cy="685800"/>
          </a:xfrm>
          <a:prstGeom prst="line">
            <a:avLst/>
          </a:prstGeom>
          <a:noFill/>
          <a:ln w="19050">
            <a:solidFill>
              <a:srgbClr val="C9932E"/>
            </a:solidFill>
            <a:prstDash val="solid"/>
          </a:ln>
        </p:spPr>
      </p:sp>
      <p:sp>
        <p:nvSpPr>
          <p:cNvPr id="18" name="Text 16"/>
          <p:cNvSpPr/>
          <p:nvPr/>
        </p:nvSpPr>
        <p:spPr>
          <a:xfrm>
            <a:off x="1965960" y="5285232"/>
            <a:ext cx="38404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정책 제안</a:t>
            </a:r>
            <a:endParaRPr lang="en-US" sz="2000" dirty="0"/>
          </a:p>
        </p:txBody>
      </p:sp>
      <p:sp>
        <p:nvSpPr>
          <p:cNvPr id="19" name="Text 17"/>
          <p:cNvSpPr/>
          <p:nvPr/>
        </p:nvSpPr>
        <p:spPr>
          <a:xfrm>
            <a:off x="1965960" y="5687568"/>
            <a:ext cx="5943600" cy="365760"/>
          </a:xfrm>
          <a:prstGeom prst="rect">
            <a:avLst/>
          </a:prstGeom>
          <a:noFill/>
          <a:ln/>
        </p:spPr>
        <p:txBody>
          <a:bodyPr wrap="square" rtlCol="0" anchor="ctr"/>
          <a:lstStyle/>
          <a:p>
            <a:pPr marL="0" indent="0">
              <a:buNone/>
            </a:pPr>
            <a:r>
              <a:rPr lang="en-US" sz="1250" dirty="0">
                <a:solidFill>
                  <a:srgbClr val="8A93A0"/>
                </a:solidFill>
                <a:latin typeface="Calibri" pitchFamily="34" charset="0"/>
                <a:ea typeface="Calibri" pitchFamily="34" charset="-122"/>
                <a:cs typeface="Calibri" pitchFamily="34" charset="-120"/>
              </a:rPr>
              <a:t>지역 유형별 차등 정책 제안</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01. 배경 및 목적</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평택시, 같은 도시 안의 두 가지 흐름</a:t>
            </a:r>
            <a:endParaRPr lang="en-US" sz="3000" dirty="0"/>
          </a:p>
        </p:txBody>
      </p:sp>
      <p:sp>
        <p:nvSpPr>
          <p:cNvPr id="4" name="Shape 2"/>
          <p:cNvSpPr/>
          <p:nvPr/>
        </p:nvSpPr>
        <p:spPr>
          <a:xfrm>
            <a:off x="548640" y="1417320"/>
            <a:ext cx="11064240"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5" name="Text 3"/>
          <p:cNvSpPr/>
          <p:nvPr/>
        </p:nvSpPr>
        <p:spPr>
          <a:xfrm>
            <a:off x="868680" y="1600200"/>
            <a:ext cx="10424160" cy="1097280"/>
          </a:xfrm>
          <a:prstGeom prst="rect">
            <a:avLst/>
          </a:prstGeom>
          <a:noFill/>
          <a:ln/>
        </p:spPr>
        <p:txBody>
          <a:bodyPr wrap="square" rtlCol="0" anchor="t"/>
          <a:lstStyle/>
          <a:p>
            <a:pPr marL="0" indent="0">
              <a:lnSpc>
                <a:spcPct val="130000"/>
              </a:lnSpc>
              <a:buNone/>
            </a:pPr>
            <a:r>
              <a:rPr lang="en-US" sz="1450" dirty="0">
                <a:solidFill>
                  <a:srgbClr val="1B2430"/>
                </a:solidFill>
                <a:latin typeface="Calibri" pitchFamily="34" charset="0"/>
                <a:ea typeface="Calibri" pitchFamily="34" charset="-122"/>
                <a:cs typeface="Calibri" pitchFamily="34" charset="-120"/>
              </a:rPr>
              <a:t>최근 10년(2016.07~2026.07) 평택시 전체 인구는 꾸준히 증가했지만, </a:t>
            </a:r>
            <a:r>
              <a:rPr lang="en-US" sz="1450" b="1" dirty="0">
                <a:solidFill>
                  <a:srgbClr val="1E3A5F"/>
                </a:solidFill>
                <a:latin typeface="Calibri" pitchFamily="34" charset="0"/>
                <a:ea typeface="Calibri" pitchFamily="34" charset="-122"/>
                <a:cs typeface="Calibri" pitchFamily="34" charset="-120"/>
              </a:rPr>
              <a:t>동별로는 정반대의 흐름</a:t>
            </a:r>
            <a:r>
              <a:rPr lang="en-US" sz="1450" dirty="0">
                <a:solidFill>
                  <a:srgbClr val="1B2430"/>
                </a:solidFill>
                <a:latin typeface="Calibri" pitchFamily="34" charset="0"/>
                <a:ea typeface="Calibri" pitchFamily="34" charset="-122"/>
                <a:cs typeface="Calibri" pitchFamily="34" charset="-120"/>
              </a:rPr>
              <a:t>이 공존합니다. 택지개발이 진행 중인 신도심(고덕동·동삭동·세교동 등)은 인구가 급증하는 반면, 원도심과 면 지역(서탄면·오성면·신장2동 등)은 인구가 줄고 고령화가 심화되고 있습니다.</a:t>
            </a:r>
            <a:endParaRPr lang="en-US" sz="1450" dirty="0"/>
          </a:p>
        </p:txBody>
      </p:sp>
      <p:sp>
        <p:nvSpPr>
          <p:cNvPr id="6" name="Text 4"/>
          <p:cNvSpPr/>
          <p:nvPr/>
        </p:nvSpPr>
        <p:spPr>
          <a:xfrm>
            <a:off x="548640" y="3063240"/>
            <a:ext cx="11064240" cy="54864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이 양극화를 방치하면 한쪽은 보육·교육 인프라 부족, 다른 한쪽은 돌봄 공백과 지역 활력 저하가 동시에 심화될 위험이 있습니다. 이번 분석은 다음 4가지 질문에 답합니다.</a:t>
            </a:r>
            <a:endParaRPr lang="en-US" sz="1350" dirty="0"/>
          </a:p>
        </p:txBody>
      </p:sp>
      <p:sp>
        <p:nvSpPr>
          <p:cNvPr id="7" name="Shape 5"/>
          <p:cNvSpPr/>
          <p:nvPr/>
        </p:nvSpPr>
        <p:spPr>
          <a:xfrm>
            <a:off x="548639" y="3794760"/>
            <a:ext cx="11064239" cy="1051560"/>
          </a:xfrm>
          <a:prstGeom prst="roundRect">
            <a:avLst>
              <a:gd name="adj" fmla="val 6957"/>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txBody>
          <a:bodyPr/>
          <a:lstStyle/>
          <a:p>
            <a:endParaRPr lang="ko-KR" altLang="en-US" dirty="0"/>
          </a:p>
        </p:txBody>
      </p:sp>
      <p:sp>
        <p:nvSpPr>
          <p:cNvPr id="8" name="Shape 6"/>
          <p:cNvSpPr/>
          <p:nvPr/>
        </p:nvSpPr>
        <p:spPr>
          <a:xfrm>
            <a:off x="777240" y="4087368"/>
            <a:ext cx="457200" cy="457200"/>
          </a:xfrm>
          <a:prstGeom prst="ellipse">
            <a:avLst/>
          </a:prstGeom>
          <a:solidFill>
            <a:srgbClr val="1E3A5F"/>
          </a:solidFill>
          <a:ln/>
        </p:spPr>
      </p:sp>
      <p:sp>
        <p:nvSpPr>
          <p:cNvPr id="9" name="Text 7"/>
          <p:cNvSpPr/>
          <p:nvPr/>
        </p:nvSpPr>
        <p:spPr>
          <a:xfrm>
            <a:off x="777240" y="4087368"/>
            <a:ext cx="457200" cy="45720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10" name="Text 8"/>
          <p:cNvSpPr/>
          <p:nvPr/>
        </p:nvSpPr>
        <p:spPr>
          <a:xfrm>
            <a:off x="1417320" y="3904488"/>
            <a:ext cx="9921240" cy="822960"/>
          </a:xfrm>
          <a:prstGeom prst="rect">
            <a:avLst/>
          </a:prstGeom>
          <a:noFill/>
          <a:ln/>
        </p:spPr>
        <p:txBody>
          <a:bodyPr wrap="square" rtlCol="0" anchor="ctr"/>
          <a:lstStyle/>
          <a:p>
            <a:r>
              <a:rPr lang="ko-KR" altLang="ko-KR" dirty="0"/>
              <a:t>평택시 내에서 인구 증가/감소와 고령화는 실제로 공간적으로 어떻게 분포하는가?</a:t>
            </a:r>
          </a:p>
        </p:txBody>
      </p:sp>
      <p:sp>
        <p:nvSpPr>
          <p:cNvPr id="11" name="Shape 9"/>
          <p:cNvSpPr/>
          <p:nvPr/>
        </p:nvSpPr>
        <p:spPr>
          <a:xfrm>
            <a:off x="548640" y="5084499"/>
            <a:ext cx="11064240" cy="1051560"/>
          </a:xfrm>
          <a:prstGeom prst="roundRect">
            <a:avLst>
              <a:gd name="adj" fmla="val 6957"/>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2" name="Shape 10"/>
          <p:cNvSpPr/>
          <p:nvPr/>
        </p:nvSpPr>
        <p:spPr>
          <a:xfrm>
            <a:off x="777240" y="5377107"/>
            <a:ext cx="457200" cy="457200"/>
          </a:xfrm>
          <a:prstGeom prst="ellipse">
            <a:avLst/>
          </a:prstGeom>
          <a:solidFill>
            <a:srgbClr val="1E3A5F"/>
          </a:solidFill>
          <a:ln/>
        </p:spPr>
      </p:sp>
      <p:sp>
        <p:nvSpPr>
          <p:cNvPr id="14" name="Text 12"/>
          <p:cNvSpPr/>
          <p:nvPr/>
        </p:nvSpPr>
        <p:spPr>
          <a:xfrm>
            <a:off x="1417320" y="5194227"/>
            <a:ext cx="9875520" cy="822960"/>
          </a:xfrm>
          <a:prstGeom prst="rect">
            <a:avLst/>
          </a:prstGeom>
          <a:noFill/>
          <a:ln/>
        </p:spPr>
        <p:txBody>
          <a:bodyPr wrap="square" rtlCol="0" anchor="ctr"/>
          <a:lstStyle/>
          <a:p>
            <a:r>
              <a:rPr lang="ko-KR" altLang="ko-KR" dirty="0"/>
              <a:t>인구 감소 지역에서 인구감소를 해결하는 방법은?</a:t>
            </a:r>
          </a:p>
        </p:txBody>
      </p:sp>
      <p:sp>
        <p:nvSpPr>
          <p:cNvPr id="17" name="Text 15"/>
          <p:cNvSpPr/>
          <p:nvPr/>
        </p:nvSpPr>
        <p:spPr>
          <a:xfrm>
            <a:off x="777240" y="5377978"/>
            <a:ext cx="457200" cy="45720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23" name="Text 21"/>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02. 데이터 분석</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무엇을, 어떤 과정으로 분석했는가</a:t>
            </a:r>
            <a:endParaRPr lang="en-US" sz="3000" dirty="0"/>
          </a:p>
        </p:txBody>
      </p:sp>
      <p:sp>
        <p:nvSpPr>
          <p:cNvPr id="4" name="Text 2"/>
          <p:cNvSpPr/>
          <p:nvPr/>
        </p:nvSpPr>
        <p:spPr>
          <a:xfrm>
            <a:off x="548640" y="1417320"/>
            <a:ext cx="3657600" cy="320040"/>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사용 데이터</a:t>
            </a:r>
            <a:endParaRPr lang="en-US" sz="1400" dirty="0"/>
          </a:p>
        </p:txBody>
      </p:sp>
      <p:sp>
        <p:nvSpPr>
          <p:cNvPr id="5" name="Shape 3"/>
          <p:cNvSpPr/>
          <p:nvPr/>
        </p:nvSpPr>
        <p:spPr>
          <a:xfrm>
            <a:off x="548640" y="1828800"/>
            <a:ext cx="3502152"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6" name="Shape 4"/>
          <p:cNvSpPr/>
          <p:nvPr/>
        </p:nvSpPr>
        <p:spPr>
          <a:xfrm>
            <a:off x="777240" y="2057400"/>
            <a:ext cx="457200" cy="457200"/>
          </a:xfrm>
          <a:prstGeom prst="roundRect">
            <a:avLst>
              <a:gd name="adj" fmla="val 20000"/>
            </a:avLst>
          </a:prstGeom>
          <a:solidFill>
            <a:srgbClr val="EDF1F5"/>
          </a:solidFill>
          <a:ln w="12700">
            <a:solidFill>
              <a:srgbClr val="1E3A5F"/>
            </a:solidFill>
            <a:prstDash val="solid"/>
          </a:ln>
        </p:spPr>
      </p:sp>
      <p:sp>
        <p:nvSpPr>
          <p:cNvPr id="7" name="Text 5"/>
          <p:cNvSpPr/>
          <p:nvPr/>
        </p:nvSpPr>
        <p:spPr>
          <a:xfrm>
            <a:off x="777240" y="2057400"/>
            <a:ext cx="457200" cy="457200"/>
          </a:xfrm>
          <a:prstGeom prst="rect">
            <a:avLst/>
          </a:prstGeom>
          <a:noFill/>
          <a:ln/>
        </p:spPr>
        <p:txBody>
          <a:bodyPr wrap="square" rtlCol="0" anchor="ctr"/>
          <a:lstStyle/>
          <a:p>
            <a:pPr marL="0" indent="0" algn="ctr">
              <a:buNone/>
            </a:pPr>
            <a:r>
              <a:rPr lang="en-US" sz="1400" b="1" dirty="0">
                <a:solidFill>
                  <a:srgbClr val="1E3A5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371600" y="2029968"/>
            <a:ext cx="2496312" cy="45720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동별 인구 · 세대 현황</a:t>
            </a:r>
            <a:endParaRPr lang="en-US" sz="1350" dirty="0"/>
          </a:p>
        </p:txBody>
      </p:sp>
      <p:sp>
        <p:nvSpPr>
          <p:cNvPr id="9" name="Text 7"/>
          <p:cNvSpPr/>
          <p:nvPr/>
        </p:nvSpPr>
        <p:spPr>
          <a:xfrm>
            <a:off x="777240" y="2606040"/>
            <a:ext cx="3044952" cy="54864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2016.07 ~ 2026.07 (10년, 월간)</a:t>
            </a:r>
            <a:endParaRPr lang="en-US" sz="1050" dirty="0"/>
          </a:p>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주민등록인구 및 세대현황</a:t>
            </a:r>
            <a:endParaRPr lang="en-US" sz="1050" dirty="0"/>
          </a:p>
        </p:txBody>
      </p:sp>
      <p:sp>
        <p:nvSpPr>
          <p:cNvPr id="10" name="Shape 8"/>
          <p:cNvSpPr/>
          <p:nvPr/>
        </p:nvSpPr>
        <p:spPr>
          <a:xfrm>
            <a:off x="4233672" y="1828800"/>
            <a:ext cx="3502152"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1" name="Shape 9"/>
          <p:cNvSpPr/>
          <p:nvPr/>
        </p:nvSpPr>
        <p:spPr>
          <a:xfrm>
            <a:off x="4462272" y="2057400"/>
            <a:ext cx="457200" cy="457200"/>
          </a:xfrm>
          <a:prstGeom prst="roundRect">
            <a:avLst>
              <a:gd name="adj" fmla="val 20000"/>
            </a:avLst>
          </a:prstGeom>
          <a:solidFill>
            <a:srgbClr val="EDF1F5"/>
          </a:solidFill>
          <a:ln w="12700">
            <a:solidFill>
              <a:srgbClr val="1E3A5F"/>
            </a:solidFill>
            <a:prstDash val="solid"/>
          </a:ln>
        </p:spPr>
      </p:sp>
      <p:sp>
        <p:nvSpPr>
          <p:cNvPr id="12" name="Text 10"/>
          <p:cNvSpPr/>
          <p:nvPr/>
        </p:nvSpPr>
        <p:spPr>
          <a:xfrm>
            <a:off x="4462272" y="2057400"/>
            <a:ext cx="457200" cy="457200"/>
          </a:xfrm>
          <a:prstGeom prst="rect">
            <a:avLst/>
          </a:prstGeom>
          <a:noFill/>
          <a:ln/>
        </p:spPr>
        <p:txBody>
          <a:bodyPr wrap="square" rtlCol="0" anchor="ctr"/>
          <a:lstStyle/>
          <a:p>
            <a:pPr marL="0" indent="0" algn="ctr">
              <a:buNone/>
            </a:pPr>
            <a:r>
              <a:rPr lang="en-US" sz="1400" b="1" dirty="0">
                <a:solidFill>
                  <a:srgbClr val="1E3A5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5056632" y="2029968"/>
            <a:ext cx="2496312" cy="45720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연령대별 인구 현황</a:t>
            </a:r>
            <a:endParaRPr lang="en-US" sz="1350" dirty="0"/>
          </a:p>
        </p:txBody>
      </p:sp>
      <p:sp>
        <p:nvSpPr>
          <p:cNvPr id="14" name="Text 12"/>
          <p:cNvSpPr/>
          <p:nvPr/>
        </p:nvSpPr>
        <p:spPr>
          <a:xfrm>
            <a:off x="4462272" y="2606040"/>
            <a:ext cx="3044952" cy="54864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2026년 상반기 (6개월)</a:t>
            </a:r>
            <a:endParaRPr lang="en-US" sz="1050" dirty="0"/>
          </a:p>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0~9세 ~ 100세 이상 11개 구간</a:t>
            </a:r>
            <a:endParaRPr lang="en-US" sz="1050" dirty="0"/>
          </a:p>
        </p:txBody>
      </p:sp>
      <p:sp>
        <p:nvSpPr>
          <p:cNvPr id="15" name="Shape 13"/>
          <p:cNvSpPr/>
          <p:nvPr/>
        </p:nvSpPr>
        <p:spPr>
          <a:xfrm>
            <a:off x="7918704" y="1828800"/>
            <a:ext cx="3502152"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6" name="Shape 14"/>
          <p:cNvSpPr/>
          <p:nvPr/>
        </p:nvSpPr>
        <p:spPr>
          <a:xfrm>
            <a:off x="8147304" y="2057400"/>
            <a:ext cx="457200" cy="457200"/>
          </a:xfrm>
          <a:prstGeom prst="roundRect">
            <a:avLst>
              <a:gd name="adj" fmla="val 20000"/>
            </a:avLst>
          </a:prstGeom>
          <a:solidFill>
            <a:srgbClr val="EDF1F5"/>
          </a:solidFill>
          <a:ln w="12700">
            <a:solidFill>
              <a:srgbClr val="1E3A5F"/>
            </a:solidFill>
            <a:prstDash val="solid"/>
          </a:ln>
        </p:spPr>
      </p:sp>
      <p:sp>
        <p:nvSpPr>
          <p:cNvPr id="17" name="Text 15"/>
          <p:cNvSpPr/>
          <p:nvPr/>
        </p:nvSpPr>
        <p:spPr>
          <a:xfrm>
            <a:off x="8147304" y="2057400"/>
            <a:ext cx="457200" cy="457200"/>
          </a:xfrm>
          <a:prstGeom prst="rect">
            <a:avLst/>
          </a:prstGeom>
          <a:noFill/>
          <a:ln/>
        </p:spPr>
        <p:txBody>
          <a:bodyPr wrap="square" rtlCol="0" anchor="ctr"/>
          <a:lstStyle/>
          <a:p>
            <a:pPr marL="0" indent="0" algn="ctr">
              <a:buNone/>
            </a:pPr>
            <a:r>
              <a:rPr lang="en-US" sz="1400" b="1" dirty="0">
                <a:solidFill>
                  <a:srgbClr val="1E3A5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8741664" y="2029968"/>
            <a:ext cx="2496312" cy="45720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외부 정책·언론 자료</a:t>
            </a:r>
            <a:endParaRPr lang="en-US" sz="1350" dirty="0"/>
          </a:p>
        </p:txBody>
      </p:sp>
      <p:sp>
        <p:nvSpPr>
          <p:cNvPr id="19" name="Text 17"/>
          <p:cNvSpPr/>
          <p:nvPr/>
        </p:nvSpPr>
        <p:spPr>
          <a:xfrm>
            <a:off x="8147304" y="2606040"/>
            <a:ext cx="3044952" cy="54864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평택시·경기도·정부 발표</a:t>
            </a:r>
            <a:endParaRPr lang="en-US" sz="1050" dirty="0"/>
          </a:p>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보육·돌봄·교육 인프라 현황</a:t>
            </a:r>
            <a:endParaRPr lang="en-US" sz="1050" dirty="0"/>
          </a:p>
        </p:txBody>
      </p:sp>
      <p:sp>
        <p:nvSpPr>
          <p:cNvPr id="20" name="Text 18"/>
          <p:cNvSpPr/>
          <p:nvPr/>
        </p:nvSpPr>
        <p:spPr>
          <a:xfrm>
            <a:off x="548640" y="3566160"/>
            <a:ext cx="3657600" cy="320040"/>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분석 프로세스</a:t>
            </a:r>
            <a:endParaRPr lang="en-US" sz="1400" dirty="0"/>
          </a:p>
        </p:txBody>
      </p:sp>
      <p:sp>
        <p:nvSpPr>
          <p:cNvPr id="21" name="Shape 19"/>
          <p:cNvSpPr/>
          <p:nvPr/>
        </p:nvSpPr>
        <p:spPr>
          <a:xfrm>
            <a:off x="548640" y="4023360"/>
            <a:ext cx="1653540" cy="868680"/>
          </a:xfrm>
          <a:prstGeom prst="roundRect">
            <a:avLst>
              <a:gd name="adj" fmla="val 7368"/>
            </a:avLst>
          </a:prstGeom>
          <a:solidFill>
            <a:srgbClr val="FFFFFF"/>
          </a:solidFill>
          <a:ln w="12700">
            <a:solidFill>
              <a:srgbClr val="DDE3EA"/>
            </a:solidFill>
            <a:prstDash val="solid"/>
          </a:ln>
        </p:spPr>
      </p:sp>
      <p:sp>
        <p:nvSpPr>
          <p:cNvPr id="22" name="Text 20"/>
          <p:cNvSpPr/>
          <p:nvPr/>
        </p:nvSpPr>
        <p:spPr>
          <a:xfrm>
            <a:off x="548640" y="4023360"/>
            <a:ext cx="1653540" cy="86868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문제정의</a:t>
            </a:r>
            <a:endParaRPr lang="en-US" sz="1150" dirty="0"/>
          </a:p>
        </p:txBody>
      </p:sp>
      <p:sp>
        <p:nvSpPr>
          <p:cNvPr id="23" name="Text 21"/>
          <p:cNvSpPr/>
          <p:nvPr/>
        </p:nvSpPr>
        <p:spPr>
          <a:xfrm>
            <a:off x="2202180" y="4023360"/>
            <a:ext cx="228600" cy="868680"/>
          </a:xfrm>
          <a:prstGeom prst="rect">
            <a:avLst/>
          </a:prstGeom>
          <a:noFill/>
          <a:ln/>
        </p:spPr>
        <p:txBody>
          <a:bodyPr wrap="square" rtlCol="0" anchor="ctr"/>
          <a:lstStyle/>
          <a:p>
            <a:pPr marL="0" indent="0" algn="ctr">
              <a:buNone/>
            </a:pPr>
            <a:r>
              <a:rPr lang="en-US" sz="1400" dirty="0">
                <a:solidFill>
                  <a:srgbClr val="8A93A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2430780" y="4023360"/>
            <a:ext cx="1653540" cy="868680"/>
          </a:xfrm>
          <a:prstGeom prst="roundRect">
            <a:avLst>
              <a:gd name="adj" fmla="val 7368"/>
            </a:avLst>
          </a:prstGeom>
          <a:solidFill>
            <a:srgbClr val="FFFFFF"/>
          </a:solidFill>
          <a:ln w="12700">
            <a:solidFill>
              <a:srgbClr val="DDE3EA"/>
            </a:solidFill>
            <a:prstDash val="solid"/>
          </a:ln>
        </p:spPr>
      </p:sp>
      <p:sp>
        <p:nvSpPr>
          <p:cNvPr id="25" name="Text 23"/>
          <p:cNvSpPr/>
          <p:nvPr/>
        </p:nvSpPr>
        <p:spPr>
          <a:xfrm>
            <a:off x="2430780" y="4023360"/>
            <a:ext cx="1653540" cy="86868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데이터 수집</a:t>
            </a:r>
            <a:endParaRPr lang="en-US" sz="1150" dirty="0"/>
          </a:p>
        </p:txBody>
      </p:sp>
      <p:sp>
        <p:nvSpPr>
          <p:cNvPr id="26" name="Text 24"/>
          <p:cNvSpPr/>
          <p:nvPr/>
        </p:nvSpPr>
        <p:spPr>
          <a:xfrm>
            <a:off x="4084320" y="4023360"/>
            <a:ext cx="228600" cy="868680"/>
          </a:xfrm>
          <a:prstGeom prst="rect">
            <a:avLst/>
          </a:prstGeom>
          <a:noFill/>
          <a:ln/>
        </p:spPr>
        <p:txBody>
          <a:bodyPr wrap="square" rtlCol="0" anchor="ctr"/>
          <a:lstStyle/>
          <a:p>
            <a:pPr marL="0" indent="0" algn="ctr">
              <a:buNone/>
            </a:pPr>
            <a:r>
              <a:rPr lang="en-US" sz="1400" dirty="0">
                <a:solidFill>
                  <a:srgbClr val="8A93A0"/>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4312920" y="4023360"/>
            <a:ext cx="1653540" cy="868680"/>
          </a:xfrm>
          <a:prstGeom prst="roundRect">
            <a:avLst>
              <a:gd name="adj" fmla="val 7368"/>
            </a:avLst>
          </a:prstGeom>
          <a:solidFill>
            <a:srgbClr val="FFFFFF"/>
          </a:solidFill>
          <a:ln w="12700">
            <a:solidFill>
              <a:srgbClr val="DDE3EA"/>
            </a:solidFill>
            <a:prstDash val="solid"/>
          </a:ln>
        </p:spPr>
      </p:sp>
      <p:sp>
        <p:nvSpPr>
          <p:cNvPr id="28" name="Text 26"/>
          <p:cNvSpPr/>
          <p:nvPr/>
        </p:nvSpPr>
        <p:spPr>
          <a:xfrm>
            <a:off x="4312920" y="4023360"/>
            <a:ext cx="1653540" cy="86868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이해·전처리</a:t>
            </a:r>
            <a:endParaRPr lang="en-US" sz="1150" dirty="0"/>
          </a:p>
        </p:txBody>
      </p:sp>
      <p:sp>
        <p:nvSpPr>
          <p:cNvPr id="29" name="Text 27"/>
          <p:cNvSpPr/>
          <p:nvPr/>
        </p:nvSpPr>
        <p:spPr>
          <a:xfrm>
            <a:off x="5966460" y="4023360"/>
            <a:ext cx="228600" cy="868680"/>
          </a:xfrm>
          <a:prstGeom prst="rect">
            <a:avLst/>
          </a:prstGeom>
          <a:noFill/>
          <a:ln/>
        </p:spPr>
        <p:txBody>
          <a:bodyPr wrap="square" rtlCol="0" anchor="ctr"/>
          <a:lstStyle/>
          <a:p>
            <a:pPr marL="0" indent="0" algn="ctr">
              <a:buNone/>
            </a:pPr>
            <a:r>
              <a:rPr lang="en-US" sz="1400" dirty="0">
                <a:solidFill>
                  <a:srgbClr val="8A93A0"/>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6195060" y="4023360"/>
            <a:ext cx="1653540" cy="868680"/>
          </a:xfrm>
          <a:prstGeom prst="roundRect">
            <a:avLst>
              <a:gd name="adj" fmla="val 7368"/>
            </a:avLst>
          </a:prstGeom>
          <a:solidFill>
            <a:srgbClr val="FFFFFF"/>
          </a:solidFill>
          <a:ln w="12700">
            <a:solidFill>
              <a:srgbClr val="DDE3EA"/>
            </a:solidFill>
            <a:prstDash val="solid"/>
          </a:ln>
        </p:spPr>
      </p:sp>
      <p:sp>
        <p:nvSpPr>
          <p:cNvPr id="31" name="Text 29"/>
          <p:cNvSpPr/>
          <p:nvPr/>
        </p:nvSpPr>
        <p:spPr>
          <a:xfrm>
            <a:off x="6195060" y="4023360"/>
            <a:ext cx="1653540" cy="86868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EDA</a:t>
            </a:r>
            <a:endParaRPr lang="en-US" sz="1150" dirty="0"/>
          </a:p>
        </p:txBody>
      </p:sp>
      <p:sp>
        <p:nvSpPr>
          <p:cNvPr id="32" name="Text 30"/>
          <p:cNvSpPr/>
          <p:nvPr/>
        </p:nvSpPr>
        <p:spPr>
          <a:xfrm>
            <a:off x="7848600" y="4023360"/>
            <a:ext cx="228600" cy="868680"/>
          </a:xfrm>
          <a:prstGeom prst="rect">
            <a:avLst/>
          </a:prstGeom>
          <a:noFill/>
          <a:ln/>
        </p:spPr>
        <p:txBody>
          <a:bodyPr wrap="square" rtlCol="0" anchor="ctr"/>
          <a:lstStyle/>
          <a:p>
            <a:pPr marL="0" indent="0" algn="ctr">
              <a:buNone/>
            </a:pPr>
            <a:r>
              <a:rPr lang="en-US" sz="1400" dirty="0">
                <a:solidFill>
                  <a:srgbClr val="8A93A0"/>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8077200" y="4023360"/>
            <a:ext cx="1653540" cy="868680"/>
          </a:xfrm>
          <a:prstGeom prst="roundRect">
            <a:avLst>
              <a:gd name="adj" fmla="val 7368"/>
            </a:avLst>
          </a:prstGeom>
          <a:solidFill>
            <a:srgbClr val="FFFFFF"/>
          </a:solidFill>
          <a:ln w="12700">
            <a:solidFill>
              <a:srgbClr val="DDE3EA"/>
            </a:solidFill>
            <a:prstDash val="solid"/>
          </a:ln>
        </p:spPr>
      </p:sp>
      <p:sp>
        <p:nvSpPr>
          <p:cNvPr id="34" name="Text 32"/>
          <p:cNvSpPr/>
          <p:nvPr/>
        </p:nvSpPr>
        <p:spPr>
          <a:xfrm>
            <a:off x="8077200" y="4023360"/>
            <a:ext cx="1653540" cy="86868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분석검증</a:t>
            </a:r>
            <a:endParaRPr lang="en-US" sz="1150" dirty="0"/>
          </a:p>
        </p:txBody>
      </p:sp>
      <p:sp>
        <p:nvSpPr>
          <p:cNvPr id="35" name="Text 33"/>
          <p:cNvSpPr/>
          <p:nvPr/>
        </p:nvSpPr>
        <p:spPr>
          <a:xfrm>
            <a:off x="9730740" y="4023360"/>
            <a:ext cx="228600" cy="868680"/>
          </a:xfrm>
          <a:prstGeom prst="rect">
            <a:avLst/>
          </a:prstGeom>
          <a:noFill/>
          <a:ln/>
        </p:spPr>
        <p:txBody>
          <a:bodyPr wrap="square" rtlCol="0" anchor="ctr"/>
          <a:lstStyle/>
          <a:p>
            <a:pPr marL="0" indent="0" algn="ctr">
              <a:buNone/>
            </a:pPr>
            <a:r>
              <a:rPr lang="en-US" sz="1400" dirty="0">
                <a:solidFill>
                  <a:srgbClr val="8A93A0"/>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959340" y="4023360"/>
            <a:ext cx="1653540" cy="868680"/>
          </a:xfrm>
          <a:prstGeom prst="roundRect">
            <a:avLst>
              <a:gd name="adj" fmla="val 7368"/>
            </a:avLst>
          </a:prstGeom>
          <a:solidFill>
            <a:srgbClr val="1E3A5F"/>
          </a:solidFill>
          <a:ln w="12700">
            <a:solidFill>
              <a:srgbClr val="1E3A5F"/>
            </a:solidFill>
            <a:prstDash val="solid"/>
          </a:ln>
        </p:spPr>
      </p:sp>
      <p:sp>
        <p:nvSpPr>
          <p:cNvPr id="37" name="Text 35"/>
          <p:cNvSpPr/>
          <p:nvPr/>
        </p:nvSpPr>
        <p:spPr>
          <a:xfrm>
            <a:off x="9959340" y="4023360"/>
            <a:ext cx="1653540" cy="86868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해석·의사결정</a:t>
            </a:r>
            <a:endParaRPr lang="en-US" sz="1150" dirty="0"/>
          </a:p>
        </p:txBody>
      </p:sp>
      <p:sp>
        <p:nvSpPr>
          <p:cNvPr id="38" name="Shape 36"/>
          <p:cNvSpPr/>
          <p:nvPr/>
        </p:nvSpPr>
        <p:spPr>
          <a:xfrm>
            <a:off x="548640" y="5257800"/>
            <a:ext cx="11064240" cy="960120"/>
          </a:xfrm>
          <a:prstGeom prst="roundRect">
            <a:avLst>
              <a:gd name="adj" fmla="val 761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39" name="Text 37"/>
          <p:cNvSpPr/>
          <p:nvPr/>
        </p:nvSpPr>
        <p:spPr>
          <a:xfrm>
            <a:off x="868680" y="5394960"/>
            <a:ext cx="10515600" cy="731520"/>
          </a:xfrm>
          <a:prstGeom prst="rect">
            <a:avLst/>
          </a:prstGeom>
          <a:noFill/>
          <a:ln/>
        </p:spPr>
        <p:txBody>
          <a:bodyPr wrap="square" rtlCol="0" anchor="ctr"/>
          <a:lstStyle/>
          <a:p>
            <a:pPr marL="0" indent="0">
              <a:lnSpc>
                <a:spcPct val="125000"/>
              </a:lnSpc>
              <a:buNone/>
            </a:pPr>
            <a:r>
              <a:rPr lang="en-US" sz="1300" b="1" dirty="0">
                <a:solidFill>
                  <a:srgbClr val="1E3A5F"/>
                </a:solidFill>
                <a:latin typeface="Calibri" pitchFamily="34" charset="0"/>
                <a:ea typeface="Calibri" pitchFamily="34" charset="-122"/>
                <a:cs typeface="Calibri" pitchFamily="34" charset="-120"/>
              </a:rPr>
              <a:t>핵심 접근: </a:t>
            </a:r>
            <a:r>
              <a:rPr lang="en-US" sz="1300" dirty="0">
                <a:solidFill>
                  <a:srgbClr val="1B2430"/>
                </a:solidFill>
                <a:latin typeface="Calibri" pitchFamily="34" charset="0"/>
                <a:ea typeface="Calibri" pitchFamily="34" charset="-122"/>
                <a:cs typeface="Calibri" pitchFamily="34" charset="-120"/>
              </a:rPr>
              <a:t>① 10년치 동별 인구 추이로 '증감 패턴'을 찾고, ② 2026년 연령 구조로 '고령화 수준'을 확인한 뒤, ③ 두 지표를 교차 검증(매트릭스)하여 지역을 4개 유형으로 분류합니다.</a:t>
            </a:r>
            <a:endParaRPr lang="en-US" sz="1300" dirty="0"/>
          </a:p>
        </p:txBody>
      </p:sp>
      <p:sp>
        <p:nvSpPr>
          <p:cNvPr id="40" name="Text 3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02. 데이터 분석</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10년간 인구는 늘었지만, 세대수는 더 빨리 늘었다</a:t>
            </a:r>
            <a:endParaRPr lang="en-US" sz="3000" dirty="0"/>
          </a:p>
        </p:txBody>
      </p:sp>
      <p:sp>
        <p:nvSpPr>
          <p:cNvPr id="4" name="Shape 2"/>
          <p:cNvSpPr/>
          <p:nvPr/>
        </p:nvSpPr>
        <p:spPr>
          <a:xfrm>
            <a:off x="548640" y="1463040"/>
            <a:ext cx="11064240" cy="3063240"/>
          </a:xfrm>
          <a:prstGeom prst="roundRect">
            <a:avLst>
              <a:gd name="adj" fmla="val 2388"/>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pic>
        <p:nvPicPr>
          <p:cNvPr id="5" name="Image 0" descr="/home/claude/images/city_pop_trend.png"/>
          <p:cNvPicPr>
            <a:picLocks noChangeAspect="1"/>
          </p:cNvPicPr>
          <p:nvPr/>
        </p:nvPicPr>
        <p:blipFill>
          <a:blip r:embed="rId3"/>
          <a:stretch>
            <a:fillRect/>
          </a:stretch>
        </p:blipFill>
        <p:spPr>
          <a:xfrm>
            <a:off x="777240" y="1645920"/>
            <a:ext cx="10607040" cy="2697480"/>
          </a:xfrm>
          <a:prstGeom prst="rect">
            <a:avLst/>
          </a:prstGeom>
        </p:spPr>
      </p:pic>
      <p:sp>
        <p:nvSpPr>
          <p:cNvPr id="6" name="Shape 3"/>
          <p:cNvSpPr/>
          <p:nvPr/>
        </p:nvSpPr>
        <p:spPr>
          <a:xfrm>
            <a:off x="548640" y="4663440"/>
            <a:ext cx="11064240" cy="1554480"/>
          </a:xfrm>
          <a:prstGeom prst="roundRect">
            <a:avLst>
              <a:gd name="adj" fmla="val 4706"/>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7" name="Text 4"/>
          <p:cNvSpPr/>
          <p:nvPr/>
        </p:nvSpPr>
        <p:spPr>
          <a:xfrm>
            <a:off x="822960" y="4828032"/>
            <a:ext cx="2743200" cy="320040"/>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읽는 법</a:t>
            </a:r>
            <a:endParaRPr lang="en-US" sz="1250" dirty="0"/>
          </a:p>
        </p:txBody>
      </p:sp>
      <p:sp>
        <p:nvSpPr>
          <p:cNvPr id="8" name="Text 5"/>
          <p:cNvSpPr/>
          <p:nvPr/>
        </p:nvSpPr>
        <p:spPr>
          <a:xfrm>
            <a:off x="822960" y="5166360"/>
            <a:ext cx="10424160" cy="960120"/>
          </a:xfrm>
          <a:prstGeom prst="rect">
            <a:avLst/>
          </a:prstGeom>
          <a:noFill/>
          <a:ln/>
        </p:spPr>
        <p:txBody>
          <a:bodyPr wrap="square" rtlCol="0" anchor="t"/>
          <a:lstStyle/>
          <a:p>
            <a:pPr marL="0" indent="0">
              <a:lnSpc>
                <a:spcPct val="130000"/>
              </a:lnSpc>
              <a:buNone/>
            </a:pPr>
            <a:r>
              <a:rPr lang="en-US" sz="1300" b="1" dirty="0">
                <a:solidFill>
                  <a:srgbClr val="1B2430"/>
                </a:solidFill>
                <a:latin typeface="Calibri" pitchFamily="34" charset="0"/>
                <a:ea typeface="Calibri" pitchFamily="34" charset="-122"/>
                <a:cs typeface="Calibri" pitchFamily="34" charset="-120"/>
              </a:rPr>
              <a:t>총인구수보다 세대수가 더 가파르게 증가 </a:t>
            </a:r>
            <a:r>
              <a:rPr lang="en-US" sz="1300" dirty="0">
                <a:solidFill>
                  <a:srgbClr val="1B2430"/>
                </a:solidFill>
                <a:latin typeface="Calibri" pitchFamily="34" charset="0"/>
                <a:ea typeface="Calibri" pitchFamily="34" charset="-122"/>
                <a:cs typeface="Calibri" pitchFamily="34" charset="-120"/>
              </a:rPr>
              <a:t>→ 1인·2인 가구 중심의 '가구 분화'가 진행 중임을 의미합니다. 세대당 인구가 지속적으로 낮아지는 추세는 향후 소형 주거·복지 서비스 수요 변화를 예고합니다.</a:t>
            </a:r>
            <a:endParaRPr lang="en-US" sz="1300" dirty="0"/>
          </a:p>
        </p:txBody>
      </p:sp>
      <p:sp>
        <p:nvSpPr>
          <p:cNvPr id="9" name="Text 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02. 데이터 분석</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동별로 뜯어보면: 순위와 증감률이 다른 이야기를 한다</a:t>
            </a:r>
            <a:endParaRPr lang="en-US" sz="3000" dirty="0"/>
          </a:p>
        </p:txBody>
      </p:sp>
      <p:sp>
        <p:nvSpPr>
          <p:cNvPr id="4" name="Shape 2"/>
          <p:cNvSpPr/>
          <p:nvPr/>
        </p:nvSpPr>
        <p:spPr>
          <a:xfrm>
            <a:off x="548640" y="1417320"/>
            <a:ext cx="5440680" cy="4434840"/>
          </a:xfrm>
          <a:prstGeom prst="roundRect">
            <a:avLst>
              <a:gd name="adj" fmla="val 164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5" name="Text 3"/>
          <p:cNvSpPr/>
          <p:nvPr/>
        </p:nvSpPr>
        <p:spPr>
          <a:xfrm>
            <a:off x="777240" y="1572768"/>
            <a:ext cx="4937760" cy="320040"/>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동별 최신 인구 순위 (2026.07)</a:t>
            </a:r>
            <a:endParaRPr lang="en-US" sz="1250" dirty="0"/>
          </a:p>
        </p:txBody>
      </p:sp>
      <p:pic>
        <p:nvPicPr>
          <p:cNvPr id="6" name="Image 0" descr="/home/claude/images/dong_pop_rank.png"/>
          <p:cNvPicPr>
            <a:picLocks noChangeAspect="1"/>
          </p:cNvPicPr>
          <p:nvPr/>
        </p:nvPicPr>
        <p:blipFill>
          <a:blip r:embed="rId3"/>
          <a:stretch>
            <a:fillRect/>
          </a:stretch>
        </p:blipFill>
        <p:spPr>
          <a:xfrm>
            <a:off x="777240" y="1920240"/>
            <a:ext cx="4937760" cy="3794760"/>
          </a:xfrm>
          <a:prstGeom prst="rect">
            <a:avLst/>
          </a:prstGeom>
        </p:spPr>
      </p:pic>
      <p:sp>
        <p:nvSpPr>
          <p:cNvPr id="7" name="Shape 4"/>
          <p:cNvSpPr/>
          <p:nvPr/>
        </p:nvSpPr>
        <p:spPr>
          <a:xfrm>
            <a:off x="6172200" y="1417320"/>
            <a:ext cx="5440680" cy="4434840"/>
          </a:xfrm>
          <a:prstGeom prst="roundRect">
            <a:avLst>
              <a:gd name="adj" fmla="val 164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8" name="Text 5"/>
          <p:cNvSpPr/>
          <p:nvPr/>
        </p:nvSpPr>
        <p:spPr>
          <a:xfrm>
            <a:off x="6400800" y="1572768"/>
            <a:ext cx="4937760" cy="320040"/>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동별 인구 증감률 (데이터 시작 시점 대비)</a:t>
            </a:r>
            <a:endParaRPr lang="en-US" sz="1250" dirty="0"/>
          </a:p>
        </p:txBody>
      </p:sp>
      <p:pic>
        <p:nvPicPr>
          <p:cNvPr id="9" name="Image 1" descr="/home/claude/images/dong_growth_rate.png"/>
          <p:cNvPicPr>
            <a:picLocks noChangeAspect="1"/>
          </p:cNvPicPr>
          <p:nvPr/>
        </p:nvPicPr>
        <p:blipFill>
          <a:blip r:embed="rId4"/>
          <a:stretch>
            <a:fillRect/>
          </a:stretch>
        </p:blipFill>
        <p:spPr>
          <a:xfrm>
            <a:off x="6400800" y="1920240"/>
            <a:ext cx="4937760" cy="3794760"/>
          </a:xfrm>
          <a:prstGeom prst="rect">
            <a:avLst/>
          </a:prstGeom>
        </p:spPr>
      </p:pic>
      <p:sp>
        <p:nvSpPr>
          <p:cNvPr id="10" name="Text 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02. 데이터 분석</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고령인구비율과 유소년비율, 동별로 정반대</a:t>
            </a:r>
            <a:endParaRPr lang="en-US" sz="3000" dirty="0"/>
          </a:p>
        </p:txBody>
      </p:sp>
      <p:sp>
        <p:nvSpPr>
          <p:cNvPr id="4" name="Shape 2"/>
          <p:cNvSpPr/>
          <p:nvPr/>
        </p:nvSpPr>
        <p:spPr>
          <a:xfrm>
            <a:off x="548640" y="1417320"/>
            <a:ext cx="6309360" cy="4434840"/>
          </a:xfrm>
          <a:prstGeom prst="roundRect">
            <a:avLst>
              <a:gd name="adj" fmla="val 164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pic>
        <p:nvPicPr>
          <p:cNvPr id="5" name="Image 0" descr="/home/claude/images/age_bar_elderly_youth.png"/>
          <p:cNvPicPr>
            <a:picLocks noChangeAspect="1"/>
          </p:cNvPicPr>
          <p:nvPr/>
        </p:nvPicPr>
        <p:blipFill>
          <a:blip r:embed="rId3"/>
          <a:stretch>
            <a:fillRect/>
          </a:stretch>
        </p:blipFill>
        <p:spPr>
          <a:xfrm>
            <a:off x="777240" y="1600200"/>
            <a:ext cx="5852160" cy="4069080"/>
          </a:xfrm>
          <a:prstGeom prst="rect">
            <a:avLst/>
          </a:prstGeom>
        </p:spPr>
      </p:pic>
      <p:sp>
        <p:nvSpPr>
          <p:cNvPr id="6" name="Shape 3"/>
          <p:cNvSpPr/>
          <p:nvPr/>
        </p:nvSpPr>
        <p:spPr>
          <a:xfrm>
            <a:off x="7086600" y="1417320"/>
            <a:ext cx="4526280" cy="2057400"/>
          </a:xfrm>
          <a:prstGeom prst="roundRect">
            <a:avLst>
              <a:gd name="adj" fmla="val 3556"/>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7" name="Shape 4"/>
          <p:cNvSpPr/>
          <p:nvPr/>
        </p:nvSpPr>
        <p:spPr>
          <a:xfrm>
            <a:off x="7315200" y="1645920"/>
            <a:ext cx="365760" cy="365760"/>
          </a:xfrm>
          <a:prstGeom prst="roundRect">
            <a:avLst>
              <a:gd name="adj" fmla="val 20000"/>
            </a:avLst>
          </a:prstGeom>
          <a:solidFill>
            <a:srgbClr val="B2432D"/>
          </a:solidFill>
          <a:ln/>
        </p:spPr>
      </p:sp>
      <p:sp>
        <p:nvSpPr>
          <p:cNvPr id="8" name="Text 5"/>
          <p:cNvSpPr/>
          <p:nvPr/>
        </p:nvSpPr>
        <p:spPr>
          <a:xfrm>
            <a:off x="7818120" y="1627632"/>
            <a:ext cx="3383280" cy="365760"/>
          </a:xfrm>
          <a:prstGeom prst="rect">
            <a:avLst/>
          </a:prstGeom>
          <a:noFill/>
          <a:ln/>
        </p:spPr>
        <p:txBody>
          <a:bodyPr wrap="square"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고령화 심화 지역</a:t>
            </a:r>
            <a:endParaRPr lang="en-US" sz="1400" dirty="0"/>
          </a:p>
        </p:txBody>
      </p:sp>
      <p:sp>
        <p:nvSpPr>
          <p:cNvPr id="9" name="Text 6"/>
          <p:cNvSpPr/>
          <p:nvPr/>
        </p:nvSpPr>
        <p:spPr>
          <a:xfrm>
            <a:off x="7315200" y="2103120"/>
            <a:ext cx="4069080" cy="640080"/>
          </a:xfrm>
          <a:prstGeom prst="rect">
            <a:avLst/>
          </a:prstGeom>
          <a:noFill/>
          <a:ln/>
        </p:spPr>
        <p:txBody>
          <a:bodyPr wrap="square" rtlCol="0" anchor="ctr"/>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서탄면·오성면·신장2동·팽성읍·진위면</a:t>
            </a:r>
            <a:endParaRPr lang="en-US" sz="1200" dirty="0"/>
          </a:p>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고령인구비율 28~37%</a:t>
            </a:r>
            <a:endParaRPr lang="en-US" sz="1200" dirty="0"/>
          </a:p>
        </p:txBody>
      </p:sp>
      <p:sp>
        <p:nvSpPr>
          <p:cNvPr id="10" name="Text 7"/>
          <p:cNvSpPr/>
          <p:nvPr/>
        </p:nvSpPr>
        <p:spPr>
          <a:xfrm>
            <a:off x="7315200" y="2743200"/>
            <a:ext cx="4069080" cy="640080"/>
          </a:xfrm>
          <a:prstGeom prst="rect">
            <a:avLst/>
          </a:prstGeom>
          <a:noFill/>
          <a:ln/>
        </p:spPr>
        <p:txBody>
          <a:bodyPr wrap="square" rtlCol="0" anchor="ctr"/>
          <a:lstStyle/>
          <a:p>
            <a:pPr marL="0" indent="0">
              <a:lnSpc>
                <a:spcPct val="120000"/>
              </a:lnSpc>
              <a:buNone/>
            </a:pPr>
            <a:r>
              <a:rPr lang="en-US" sz="1150" i="1" dirty="0">
                <a:solidFill>
                  <a:srgbClr val="1E3A5F"/>
                </a:solidFill>
                <a:latin typeface="Calibri" pitchFamily="34" charset="0"/>
                <a:ea typeface="Calibri" pitchFamily="34" charset="-122"/>
                <a:cs typeface="Calibri" pitchFamily="34" charset="-120"/>
              </a:rPr>
              <a:t>→ 노인복지시설·방문의료·교통약자 이동지원 등 고령친화 정책 우선 검토 필요</a:t>
            </a:r>
            <a:endParaRPr lang="en-US" sz="1150" dirty="0"/>
          </a:p>
        </p:txBody>
      </p:sp>
      <p:sp>
        <p:nvSpPr>
          <p:cNvPr id="11" name="Shape 8"/>
          <p:cNvSpPr/>
          <p:nvPr/>
        </p:nvSpPr>
        <p:spPr>
          <a:xfrm>
            <a:off x="7086600" y="3703320"/>
            <a:ext cx="4526280" cy="2148840"/>
          </a:xfrm>
          <a:prstGeom prst="roundRect">
            <a:avLst>
              <a:gd name="adj" fmla="val 3404"/>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2" name="Shape 9"/>
          <p:cNvSpPr/>
          <p:nvPr/>
        </p:nvSpPr>
        <p:spPr>
          <a:xfrm>
            <a:off x="7315200" y="3931920"/>
            <a:ext cx="365760" cy="365760"/>
          </a:xfrm>
          <a:prstGeom prst="roundRect">
            <a:avLst>
              <a:gd name="adj" fmla="val 20000"/>
            </a:avLst>
          </a:prstGeom>
          <a:solidFill>
            <a:srgbClr val="2E8B57"/>
          </a:solidFill>
          <a:ln/>
        </p:spPr>
      </p:sp>
      <p:sp>
        <p:nvSpPr>
          <p:cNvPr id="13" name="Text 10"/>
          <p:cNvSpPr/>
          <p:nvPr/>
        </p:nvSpPr>
        <p:spPr>
          <a:xfrm>
            <a:off x="7818120" y="3913632"/>
            <a:ext cx="3383280" cy="365760"/>
          </a:xfrm>
          <a:prstGeom prst="rect">
            <a:avLst/>
          </a:prstGeom>
          <a:noFill/>
          <a:ln/>
        </p:spPr>
        <p:txBody>
          <a:bodyPr wrap="square"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유소년 비중 높은 지역</a:t>
            </a:r>
            <a:endParaRPr lang="en-US" sz="1400" dirty="0"/>
          </a:p>
        </p:txBody>
      </p:sp>
      <p:sp>
        <p:nvSpPr>
          <p:cNvPr id="14" name="Text 11"/>
          <p:cNvSpPr/>
          <p:nvPr/>
        </p:nvSpPr>
        <p:spPr>
          <a:xfrm>
            <a:off x="7315200" y="4389120"/>
            <a:ext cx="4069080" cy="640080"/>
          </a:xfrm>
          <a:prstGeom prst="rect">
            <a:avLst/>
          </a:prstGeom>
          <a:noFill/>
          <a:ln/>
        </p:spPr>
        <p:txBody>
          <a:bodyPr wrap="square" rtlCol="0" anchor="ctr"/>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고덕동·동삭동·용이동 (신설 택지지구)</a:t>
            </a:r>
            <a:endParaRPr lang="en-US" sz="1200" dirty="0"/>
          </a:p>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유소년비율 12~16%, 고령비율은 한 자릿수</a:t>
            </a:r>
            <a:endParaRPr lang="en-US" sz="1200" dirty="0"/>
          </a:p>
        </p:txBody>
      </p:sp>
      <p:sp>
        <p:nvSpPr>
          <p:cNvPr id="15" name="Text 12"/>
          <p:cNvSpPr/>
          <p:nvPr/>
        </p:nvSpPr>
        <p:spPr>
          <a:xfrm>
            <a:off x="7315200" y="5074920"/>
            <a:ext cx="4069080" cy="640080"/>
          </a:xfrm>
          <a:prstGeom prst="rect">
            <a:avLst/>
          </a:prstGeom>
          <a:noFill/>
          <a:ln/>
        </p:spPr>
        <p:txBody>
          <a:bodyPr wrap="square" rtlCol="0" anchor="ctr"/>
          <a:lstStyle/>
          <a:p>
            <a:pPr marL="0" indent="0">
              <a:lnSpc>
                <a:spcPct val="120000"/>
              </a:lnSpc>
              <a:buNone/>
            </a:pPr>
            <a:r>
              <a:rPr lang="en-US" sz="1150" i="1" dirty="0">
                <a:solidFill>
                  <a:srgbClr val="1E3A5F"/>
                </a:solidFill>
                <a:latin typeface="Calibri" pitchFamily="34" charset="0"/>
                <a:ea typeface="Calibri" pitchFamily="34" charset="-122"/>
                <a:cs typeface="Calibri" pitchFamily="34" charset="-120"/>
              </a:rPr>
              <a:t>→ 어린이집·초등학교·놀이시설 등 보육·교육 인프라 수요 급증 가능성</a:t>
            </a:r>
            <a:endParaRPr lang="en-US" sz="1150" dirty="0"/>
          </a:p>
        </p:txBody>
      </p:sp>
      <p:sp>
        <p:nvSpPr>
          <p:cNvPr id="16" name="Text 13"/>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83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03. 핵심 포커스</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증감률 × 고령비율을 교차하면, 양극화가 선명해진다</a:t>
            </a:r>
            <a:endParaRPr lang="en-US" sz="3000" dirty="0"/>
          </a:p>
        </p:txBody>
      </p:sp>
      <p:sp>
        <p:nvSpPr>
          <p:cNvPr id="4" name="Text 2"/>
          <p:cNvSpPr/>
          <p:nvPr/>
        </p:nvSpPr>
        <p:spPr>
          <a:xfrm>
            <a:off x="548640" y="1325880"/>
            <a:ext cx="11064240" cy="457200"/>
          </a:xfrm>
          <a:prstGeom prst="rect">
            <a:avLst/>
          </a:prstGeom>
          <a:noFill/>
          <a:ln/>
        </p:spPr>
        <p:txBody>
          <a:bodyPr wrap="square" rtlCol="0" anchor="ctr"/>
          <a:lstStyle/>
          <a:p>
            <a:pPr marL="0" indent="0">
              <a:buNone/>
            </a:pPr>
            <a:r>
              <a:rPr lang="en-US" sz="1300" dirty="0">
                <a:solidFill>
                  <a:srgbClr val="EDF1F5"/>
                </a:solidFill>
                <a:latin typeface="Calibri" pitchFamily="34" charset="0"/>
                <a:ea typeface="Calibri" pitchFamily="34" charset="-122"/>
                <a:cs typeface="Calibri" pitchFamily="34" charset="-120"/>
              </a:rPr>
              <a:t>이번 분석이 가장 집중한 지점: 10년 인구 증감률과 2026년 고령인구비율을 하나의 매트릭스로 겹쳐보면, 25개 동이 뚜렷한 4개 유형으로 갈립니다.</a:t>
            </a:r>
            <a:endParaRPr lang="en-US" sz="1300" dirty="0"/>
          </a:p>
        </p:txBody>
      </p:sp>
      <p:sp>
        <p:nvSpPr>
          <p:cNvPr id="5" name="Shape 3"/>
          <p:cNvSpPr/>
          <p:nvPr/>
        </p:nvSpPr>
        <p:spPr>
          <a:xfrm>
            <a:off x="548640" y="1874520"/>
            <a:ext cx="6949440" cy="4617720"/>
          </a:xfrm>
          <a:prstGeom prst="roundRect">
            <a:avLst>
              <a:gd name="adj" fmla="val 1584"/>
            </a:avLst>
          </a:prstGeom>
          <a:solidFill>
            <a:srgbClr val="FFFFFF"/>
          </a:solidFill>
          <a:ln/>
        </p:spPr>
      </p:sp>
      <p:pic>
        <p:nvPicPr>
          <p:cNvPr id="6" name="Image 0" descr="/home/claude/images/quadrant_scatter.png"/>
          <p:cNvPicPr>
            <a:picLocks noChangeAspect="1"/>
          </p:cNvPicPr>
          <p:nvPr/>
        </p:nvPicPr>
        <p:blipFill>
          <a:blip r:embed="rId3"/>
          <a:stretch>
            <a:fillRect/>
          </a:stretch>
        </p:blipFill>
        <p:spPr>
          <a:xfrm>
            <a:off x="731520" y="2011680"/>
            <a:ext cx="6583680" cy="4343400"/>
          </a:xfrm>
          <a:prstGeom prst="rect">
            <a:avLst/>
          </a:prstGeom>
        </p:spPr>
      </p:pic>
      <p:sp>
        <p:nvSpPr>
          <p:cNvPr id="7" name="Shape 4"/>
          <p:cNvSpPr/>
          <p:nvPr/>
        </p:nvSpPr>
        <p:spPr>
          <a:xfrm>
            <a:off x="7818120" y="2011680"/>
            <a:ext cx="219456" cy="219456"/>
          </a:xfrm>
          <a:prstGeom prst="ellipse">
            <a:avLst/>
          </a:prstGeom>
          <a:solidFill>
            <a:srgbClr val="2E8B57"/>
          </a:solidFill>
          <a:ln/>
        </p:spPr>
      </p:sp>
      <p:sp>
        <p:nvSpPr>
          <p:cNvPr id="8" name="Text 5"/>
          <p:cNvSpPr/>
          <p:nvPr/>
        </p:nvSpPr>
        <p:spPr>
          <a:xfrm>
            <a:off x="8138160" y="1911096"/>
            <a:ext cx="356616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성장+젊음 (인프라 확충형)</a:t>
            </a:r>
            <a:endParaRPr lang="en-US" sz="1250" dirty="0"/>
          </a:p>
        </p:txBody>
      </p:sp>
      <p:sp>
        <p:nvSpPr>
          <p:cNvPr id="9" name="Text 6"/>
          <p:cNvSpPr/>
          <p:nvPr/>
        </p:nvSpPr>
        <p:spPr>
          <a:xfrm>
            <a:off x="8138160" y="2221992"/>
            <a:ext cx="3566160" cy="411480"/>
          </a:xfrm>
          <a:prstGeom prst="rect">
            <a:avLst/>
          </a:prstGeom>
          <a:noFill/>
          <a:ln/>
        </p:spPr>
        <p:txBody>
          <a:bodyPr wrap="square" rtlCol="0" anchor="ctr"/>
          <a:lstStyle/>
          <a:p>
            <a:pPr marL="0" indent="0">
              <a:buNone/>
            </a:pPr>
            <a:r>
              <a:rPr lang="en-US" sz="1050" dirty="0">
                <a:solidFill>
                  <a:srgbClr val="8A93A0"/>
                </a:solidFill>
                <a:latin typeface="Calibri" pitchFamily="34" charset="0"/>
                <a:ea typeface="Calibri" pitchFamily="34" charset="-122"/>
                <a:cs typeface="Calibri" pitchFamily="34" charset="-120"/>
              </a:rPr>
              <a:t>인구 증가 · 고령비율 낮음</a:t>
            </a:r>
            <a:endParaRPr lang="en-US" sz="1050" dirty="0"/>
          </a:p>
        </p:txBody>
      </p:sp>
      <p:sp>
        <p:nvSpPr>
          <p:cNvPr id="10" name="Shape 7"/>
          <p:cNvSpPr/>
          <p:nvPr/>
        </p:nvSpPr>
        <p:spPr>
          <a:xfrm>
            <a:off x="7818120" y="3063240"/>
            <a:ext cx="219456" cy="219456"/>
          </a:xfrm>
          <a:prstGeom prst="ellipse">
            <a:avLst/>
          </a:prstGeom>
          <a:solidFill>
            <a:srgbClr val="C9932E"/>
          </a:solidFill>
          <a:ln/>
        </p:spPr>
      </p:sp>
      <p:sp>
        <p:nvSpPr>
          <p:cNvPr id="11" name="Text 8"/>
          <p:cNvSpPr/>
          <p:nvPr/>
        </p:nvSpPr>
        <p:spPr>
          <a:xfrm>
            <a:off x="8138160" y="2962656"/>
            <a:ext cx="356616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성장+고령화 (혼재형)</a:t>
            </a:r>
            <a:endParaRPr lang="en-US" sz="1250" dirty="0"/>
          </a:p>
        </p:txBody>
      </p:sp>
      <p:sp>
        <p:nvSpPr>
          <p:cNvPr id="12" name="Text 9"/>
          <p:cNvSpPr/>
          <p:nvPr/>
        </p:nvSpPr>
        <p:spPr>
          <a:xfrm>
            <a:off x="8138160" y="3273552"/>
            <a:ext cx="3566160" cy="411480"/>
          </a:xfrm>
          <a:prstGeom prst="rect">
            <a:avLst/>
          </a:prstGeom>
          <a:noFill/>
          <a:ln/>
        </p:spPr>
        <p:txBody>
          <a:bodyPr wrap="square" rtlCol="0" anchor="ctr"/>
          <a:lstStyle/>
          <a:p>
            <a:pPr marL="0" indent="0">
              <a:buNone/>
            </a:pPr>
            <a:r>
              <a:rPr lang="en-US" sz="1050" dirty="0">
                <a:solidFill>
                  <a:srgbClr val="8A93A0"/>
                </a:solidFill>
                <a:latin typeface="Calibri" pitchFamily="34" charset="0"/>
                <a:ea typeface="Calibri" pitchFamily="34" charset="-122"/>
                <a:cs typeface="Calibri" pitchFamily="34" charset="-120"/>
              </a:rPr>
              <a:t>인구는 늘지만 고령비율도 높음</a:t>
            </a:r>
            <a:endParaRPr lang="en-US" sz="1050" dirty="0"/>
          </a:p>
        </p:txBody>
      </p:sp>
      <p:sp>
        <p:nvSpPr>
          <p:cNvPr id="13" name="Shape 10"/>
          <p:cNvSpPr/>
          <p:nvPr/>
        </p:nvSpPr>
        <p:spPr>
          <a:xfrm>
            <a:off x="7818120" y="4114800"/>
            <a:ext cx="219456" cy="219456"/>
          </a:xfrm>
          <a:prstGeom prst="ellipse">
            <a:avLst/>
          </a:prstGeom>
          <a:solidFill>
            <a:srgbClr val="B2432D"/>
          </a:solidFill>
          <a:ln/>
        </p:spPr>
      </p:sp>
      <p:sp>
        <p:nvSpPr>
          <p:cNvPr id="14" name="Text 11"/>
          <p:cNvSpPr/>
          <p:nvPr/>
        </p:nvSpPr>
        <p:spPr>
          <a:xfrm>
            <a:off x="8138160" y="4014216"/>
            <a:ext cx="356616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감소+고령화 (쇠퇴 위험형)</a:t>
            </a:r>
            <a:endParaRPr lang="en-US" sz="1250" dirty="0"/>
          </a:p>
        </p:txBody>
      </p:sp>
      <p:sp>
        <p:nvSpPr>
          <p:cNvPr id="15" name="Text 12"/>
          <p:cNvSpPr/>
          <p:nvPr/>
        </p:nvSpPr>
        <p:spPr>
          <a:xfrm>
            <a:off x="8138160" y="4325112"/>
            <a:ext cx="3566160" cy="411480"/>
          </a:xfrm>
          <a:prstGeom prst="rect">
            <a:avLst/>
          </a:prstGeom>
          <a:noFill/>
          <a:ln/>
        </p:spPr>
        <p:txBody>
          <a:bodyPr wrap="square" rtlCol="0" anchor="ctr"/>
          <a:lstStyle/>
          <a:p>
            <a:pPr marL="0" indent="0">
              <a:buNone/>
            </a:pPr>
            <a:r>
              <a:rPr lang="en-US" sz="1050" dirty="0">
                <a:solidFill>
                  <a:srgbClr val="8A93A0"/>
                </a:solidFill>
                <a:latin typeface="Calibri" pitchFamily="34" charset="0"/>
                <a:ea typeface="Calibri" pitchFamily="34" charset="-122"/>
                <a:cs typeface="Calibri" pitchFamily="34" charset="-120"/>
              </a:rPr>
              <a:t>인구 감소 · 고령비율 높음</a:t>
            </a:r>
            <a:endParaRPr lang="en-US" sz="1050" dirty="0"/>
          </a:p>
        </p:txBody>
      </p:sp>
      <p:sp>
        <p:nvSpPr>
          <p:cNvPr id="16" name="Shape 13"/>
          <p:cNvSpPr/>
          <p:nvPr/>
        </p:nvSpPr>
        <p:spPr>
          <a:xfrm>
            <a:off x="7818120" y="5166360"/>
            <a:ext cx="219456" cy="219456"/>
          </a:xfrm>
          <a:prstGeom prst="ellipse">
            <a:avLst/>
          </a:prstGeom>
          <a:solidFill>
            <a:srgbClr val="8A93A0"/>
          </a:solidFill>
          <a:ln/>
        </p:spPr>
      </p:sp>
      <p:sp>
        <p:nvSpPr>
          <p:cNvPr id="17" name="Text 14"/>
          <p:cNvSpPr/>
          <p:nvPr/>
        </p:nvSpPr>
        <p:spPr>
          <a:xfrm>
            <a:off x="8138160" y="5065776"/>
            <a:ext cx="356616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감소+젊음 (관찰필요형)</a:t>
            </a:r>
            <a:endParaRPr lang="en-US" sz="1250" dirty="0"/>
          </a:p>
        </p:txBody>
      </p:sp>
      <p:sp>
        <p:nvSpPr>
          <p:cNvPr id="18" name="Text 15"/>
          <p:cNvSpPr/>
          <p:nvPr/>
        </p:nvSpPr>
        <p:spPr>
          <a:xfrm>
            <a:off x="8138160" y="5376672"/>
            <a:ext cx="3566160" cy="411480"/>
          </a:xfrm>
          <a:prstGeom prst="rect">
            <a:avLst/>
          </a:prstGeom>
          <a:noFill/>
          <a:ln/>
        </p:spPr>
        <p:txBody>
          <a:bodyPr wrap="square" rtlCol="0" anchor="ctr"/>
          <a:lstStyle/>
          <a:p>
            <a:pPr marL="0" indent="0">
              <a:buNone/>
            </a:pPr>
            <a:r>
              <a:rPr lang="en-US" sz="1050" dirty="0">
                <a:solidFill>
                  <a:srgbClr val="8A93A0"/>
                </a:solidFill>
                <a:latin typeface="Calibri" pitchFamily="34" charset="0"/>
                <a:ea typeface="Calibri" pitchFamily="34" charset="-122"/>
                <a:cs typeface="Calibri" pitchFamily="34" charset="-120"/>
              </a:rPr>
              <a:t>인구는 줄지만 고령비율 낮음</a:t>
            </a:r>
            <a:endParaRPr lang="en-US" sz="1050" dirty="0"/>
          </a:p>
        </p:txBody>
      </p:sp>
      <p:sp>
        <p:nvSpPr>
          <p:cNvPr id="19" name="Text 1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03. 핵심 포커스</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25개 동 중 20곳이 두 유형으로 정확히 양극화</a:t>
            </a:r>
            <a:endParaRPr lang="en-US" sz="3000" dirty="0"/>
          </a:p>
        </p:txBody>
      </p:sp>
      <p:sp>
        <p:nvSpPr>
          <p:cNvPr id="4" name="Shape 2"/>
          <p:cNvSpPr/>
          <p:nvPr/>
        </p:nvSpPr>
        <p:spPr>
          <a:xfrm>
            <a:off x="548640" y="1463040"/>
            <a:ext cx="11064240" cy="868680"/>
          </a:xfrm>
          <a:prstGeom prst="roundRect">
            <a:avLst>
              <a:gd name="adj" fmla="val 842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5" name="Text 3"/>
          <p:cNvSpPr/>
          <p:nvPr/>
        </p:nvSpPr>
        <p:spPr>
          <a:xfrm>
            <a:off x="868680" y="1627632"/>
            <a:ext cx="10424160" cy="594360"/>
          </a:xfrm>
          <a:prstGeom prst="rect">
            <a:avLst/>
          </a:prstGeom>
          <a:noFill/>
          <a:ln/>
        </p:spPr>
        <p:txBody>
          <a:bodyPr wrap="square" rtlCol="0" anchor="ctr"/>
          <a:lstStyle/>
          <a:p>
            <a:pPr marL="0" indent="0">
              <a:lnSpc>
                <a:spcPct val="120000"/>
              </a:lnSpc>
              <a:buNone/>
            </a:pPr>
            <a:r>
              <a:rPr lang="en-US" sz="2000" b="1" dirty="0">
                <a:solidFill>
                  <a:srgbClr val="2E8B57"/>
                </a:solidFill>
                <a:latin typeface="Calibri" pitchFamily="34" charset="0"/>
                <a:ea typeface="Calibri" pitchFamily="34" charset="-122"/>
                <a:cs typeface="Calibri" pitchFamily="34" charset="-120"/>
              </a:rPr>
              <a:t>10곳</a:t>
            </a:r>
            <a:r>
              <a:rPr lang="en-US" sz="1400" dirty="0">
                <a:solidFill>
                  <a:srgbClr val="1B2430"/>
                </a:solidFill>
                <a:latin typeface="Calibri" pitchFamily="34" charset="0"/>
                <a:ea typeface="Calibri" pitchFamily="34" charset="-122"/>
                <a:cs typeface="Calibri" pitchFamily="34" charset="-120"/>
              </a:rPr>
              <a:t> 은 '성장+젊음', </a:t>
            </a:r>
            <a:r>
              <a:rPr lang="en-US" sz="2000" b="1" dirty="0">
                <a:solidFill>
                  <a:srgbClr val="B2432D"/>
                </a:solidFill>
                <a:latin typeface="Calibri" pitchFamily="34" charset="0"/>
                <a:ea typeface="Calibri" pitchFamily="34" charset="-122"/>
                <a:cs typeface="Calibri" pitchFamily="34" charset="-120"/>
              </a:rPr>
              <a:t>10곳</a:t>
            </a:r>
            <a:r>
              <a:rPr lang="en-US" sz="1400" dirty="0">
                <a:solidFill>
                  <a:srgbClr val="1B2430"/>
                </a:solidFill>
                <a:latin typeface="Calibri" pitchFamily="34" charset="0"/>
                <a:ea typeface="Calibri" pitchFamily="34" charset="-122"/>
                <a:cs typeface="Calibri" pitchFamily="34" charset="-120"/>
              </a:rPr>
              <a:t> 은 '감소+고령화'로 갈립니다. 이는 우연이 아니라 </a:t>
            </a:r>
            <a:r>
              <a:rPr lang="en-US" sz="1400" b="1" dirty="0">
                <a:solidFill>
                  <a:srgbClr val="1E3A5F"/>
                </a:solidFill>
                <a:latin typeface="Calibri" pitchFamily="34" charset="0"/>
                <a:ea typeface="Calibri" pitchFamily="34" charset="-122"/>
                <a:cs typeface="Calibri" pitchFamily="34" charset="-120"/>
              </a:rPr>
              <a:t>택지개발 신도심(성장) vs 개발이 끝난 원도심·농촌(쇠퇴)</a:t>
            </a:r>
            <a:r>
              <a:rPr lang="en-US" sz="1400" dirty="0">
                <a:solidFill>
                  <a:srgbClr val="1B2430"/>
                </a:solidFill>
                <a:latin typeface="Calibri" pitchFamily="34" charset="0"/>
                <a:ea typeface="Calibri" pitchFamily="34" charset="-122"/>
                <a:cs typeface="Calibri" pitchFamily="34" charset="-120"/>
              </a:rPr>
              <a:t>의 구조적 패턴입니다.</a:t>
            </a:r>
            <a:endParaRPr lang="en-US" sz="2000" dirty="0"/>
          </a:p>
        </p:txBody>
      </p:sp>
      <p:sp>
        <p:nvSpPr>
          <p:cNvPr id="6" name="Shape 4"/>
          <p:cNvSpPr/>
          <p:nvPr/>
        </p:nvSpPr>
        <p:spPr>
          <a:xfrm>
            <a:off x="548640" y="2514600"/>
            <a:ext cx="5440680" cy="2743200"/>
          </a:xfrm>
          <a:prstGeom prst="roundRect">
            <a:avLst>
              <a:gd name="adj" fmla="val 2667"/>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7" name="Shape 5"/>
          <p:cNvSpPr/>
          <p:nvPr/>
        </p:nvSpPr>
        <p:spPr>
          <a:xfrm>
            <a:off x="777240" y="2697480"/>
            <a:ext cx="320040" cy="320040"/>
          </a:xfrm>
          <a:prstGeom prst="roundRect">
            <a:avLst>
              <a:gd name="adj" fmla="val 20000"/>
            </a:avLst>
          </a:prstGeom>
          <a:solidFill>
            <a:srgbClr val="2E8B57"/>
          </a:solidFill>
          <a:ln/>
        </p:spPr>
      </p:sp>
      <p:sp>
        <p:nvSpPr>
          <p:cNvPr id="8" name="Text 6"/>
          <p:cNvSpPr/>
          <p:nvPr/>
        </p:nvSpPr>
        <p:spPr>
          <a:xfrm>
            <a:off x="1234440" y="2679192"/>
            <a:ext cx="448056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성장 + 젊음 (10곳)</a:t>
            </a:r>
            <a:endParaRPr lang="en-US" sz="1500" dirty="0"/>
          </a:p>
        </p:txBody>
      </p:sp>
      <p:sp>
        <p:nvSpPr>
          <p:cNvPr id="9" name="Text 7"/>
          <p:cNvSpPr/>
          <p:nvPr/>
        </p:nvSpPr>
        <p:spPr>
          <a:xfrm>
            <a:off x="822960" y="3200400"/>
            <a:ext cx="5029200" cy="1920240"/>
          </a:xfrm>
          <a:prstGeom prst="rect">
            <a:avLst/>
          </a:prstGeom>
          <a:noFill/>
          <a:ln/>
        </p:spPr>
        <p:txBody>
          <a:bodyPr wrap="square" rtlCol="0" anchor="t"/>
          <a:lstStyle/>
          <a:p>
            <a:pPr marL="0" indent="0">
              <a:lnSpc>
                <a:spcPct val="150000"/>
              </a:lnSpc>
              <a:buNone/>
            </a:pPr>
            <a:r>
              <a:rPr lang="en-US" sz="1300" dirty="0">
                <a:solidFill>
                  <a:srgbClr val="5B6472"/>
                </a:solidFill>
                <a:latin typeface="Calibri" pitchFamily="34" charset="0"/>
                <a:ea typeface="Calibri" pitchFamily="34" charset="-122"/>
                <a:cs typeface="Calibri" pitchFamily="34" charset="-120"/>
              </a:rPr>
              <a:t>고덕동(+232%) · 현덕면(+164%) · 세교동(+67%) · 송탄동(+60%) · 비전1동 · 동삭동 · 청북읍 · 지산동 · 용이동 · 안중읍</a:t>
            </a:r>
            <a:endParaRPr lang="en-US" sz="1300" dirty="0"/>
          </a:p>
        </p:txBody>
      </p:sp>
      <p:sp>
        <p:nvSpPr>
          <p:cNvPr id="10" name="Shape 8"/>
          <p:cNvSpPr/>
          <p:nvPr/>
        </p:nvSpPr>
        <p:spPr>
          <a:xfrm>
            <a:off x="6172200" y="2514600"/>
            <a:ext cx="5440680" cy="2743200"/>
          </a:xfrm>
          <a:prstGeom prst="roundRect">
            <a:avLst>
              <a:gd name="adj" fmla="val 2667"/>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1" name="Shape 9"/>
          <p:cNvSpPr/>
          <p:nvPr/>
        </p:nvSpPr>
        <p:spPr>
          <a:xfrm>
            <a:off x="6400800" y="2697480"/>
            <a:ext cx="320040" cy="320040"/>
          </a:xfrm>
          <a:prstGeom prst="roundRect">
            <a:avLst>
              <a:gd name="adj" fmla="val 20000"/>
            </a:avLst>
          </a:prstGeom>
          <a:solidFill>
            <a:srgbClr val="B2432D"/>
          </a:solidFill>
          <a:ln/>
        </p:spPr>
      </p:sp>
      <p:sp>
        <p:nvSpPr>
          <p:cNvPr id="12" name="Text 10"/>
          <p:cNvSpPr/>
          <p:nvPr/>
        </p:nvSpPr>
        <p:spPr>
          <a:xfrm>
            <a:off x="6858000" y="2679192"/>
            <a:ext cx="448056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감소 + 고령화 (10곳)</a:t>
            </a:r>
            <a:endParaRPr lang="en-US" sz="1500" dirty="0"/>
          </a:p>
        </p:txBody>
      </p:sp>
      <p:sp>
        <p:nvSpPr>
          <p:cNvPr id="13" name="Text 11"/>
          <p:cNvSpPr/>
          <p:nvPr/>
        </p:nvSpPr>
        <p:spPr>
          <a:xfrm>
            <a:off x="6446520" y="3200400"/>
            <a:ext cx="5029200" cy="1920240"/>
          </a:xfrm>
          <a:prstGeom prst="rect">
            <a:avLst/>
          </a:prstGeom>
          <a:noFill/>
          <a:ln/>
        </p:spPr>
        <p:txBody>
          <a:bodyPr wrap="square" rtlCol="0" anchor="t"/>
          <a:lstStyle/>
          <a:p>
            <a:pPr marL="0" indent="0">
              <a:lnSpc>
                <a:spcPct val="150000"/>
              </a:lnSpc>
              <a:buNone/>
            </a:pPr>
            <a:r>
              <a:rPr lang="en-US" sz="1300" dirty="0">
                <a:solidFill>
                  <a:srgbClr val="5B6472"/>
                </a:solidFill>
                <a:latin typeface="Calibri" pitchFamily="34" charset="0"/>
                <a:ea typeface="Calibri" pitchFamily="34" charset="-122"/>
                <a:cs typeface="Calibri" pitchFamily="34" charset="-120"/>
              </a:rPr>
              <a:t>신장2동(-32%) · 포승읍(-21%) · 신평동(-20%) · 서탄면(-20%) · 서정동(-20%) · 오성면(-17%) · 진위면(-15%) · 송북동(-12%) · 팽성읍(-7%) · 원평동(+0.4%)</a:t>
            </a:r>
            <a:endParaRPr lang="en-US" sz="1300" dirty="0"/>
          </a:p>
        </p:txBody>
      </p:sp>
      <p:sp>
        <p:nvSpPr>
          <p:cNvPr id="14" name="Shape 12"/>
          <p:cNvSpPr/>
          <p:nvPr/>
        </p:nvSpPr>
        <p:spPr>
          <a:xfrm>
            <a:off x="548640" y="5440680"/>
            <a:ext cx="11064240" cy="777240"/>
          </a:xfrm>
          <a:prstGeom prst="roundRect">
            <a:avLst>
              <a:gd name="adj" fmla="val 9412"/>
            </a:avLst>
          </a:prstGeom>
          <a:solidFill>
            <a:srgbClr val="EDF1F5"/>
          </a:solidFill>
          <a:ln w="12700">
            <a:solidFill>
              <a:srgbClr val="DDE3EA"/>
            </a:solidFill>
            <a:prstDash val="solid"/>
          </a:ln>
          <a:effectLst>
            <a:outerShdw blurRad="101600" dist="25400" dir="5400000" algn="bl" rotWithShape="0">
              <a:srgbClr val="1B2430">
                <a:alpha val="12000"/>
              </a:srgbClr>
            </a:outerShdw>
          </a:effectLst>
        </p:spPr>
      </p:sp>
      <p:sp>
        <p:nvSpPr>
          <p:cNvPr id="15" name="Text 13"/>
          <p:cNvSpPr/>
          <p:nvPr/>
        </p:nvSpPr>
        <p:spPr>
          <a:xfrm>
            <a:off x="822960" y="5577840"/>
            <a:ext cx="10424160" cy="502920"/>
          </a:xfrm>
          <a:prstGeom prst="rect">
            <a:avLst/>
          </a:prstGeom>
          <a:noFill/>
          <a:ln/>
        </p:spPr>
        <p:txBody>
          <a:bodyPr wrap="square"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나머지 5곳(통복동·고덕면·신장1동·중앙동·비전2동)은 혼재형/관찰필요형 — 재개발·상권 변화 등 추가 요인 확인이 필요합니다.</a:t>
            </a:r>
            <a:endParaRPr lang="en-US" sz="1250" dirty="0"/>
          </a:p>
        </p:txBody>
      </p:sp>
      <p:sp>
        <p:nvSpPr>
          <p:cNvPr id="16" name="Text 14"/>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04. 정책 제안 — 신도심</a:t>
            </a:r>
            <a:endParaRPr lang="en-US" sz="1200" dirty="0"/>
          </a:p>
        </p:txBody>
      </p:sp>
      <p:sp>
        <p:nvSpPr>
          <p:cNvPr id="3" name="Text 1"/>
          <p:cNvSpPr/>
          <p:nvPr/>
        </p:nvSpPr>
        <p:spPr>
          <a:xfrm>
            <a:off x="10561320" y="548640"/>
            <a:ext cx="1188720" cy="914400"/>
          </a:xfrm>
          <a:prstGeom prst="rect">
            <a:avLst/>
          </a:prstGeom>
          <a:noFill/>
          <a:ln/>
        </p:spPr>
        <p:txBody>
          <a:bodyPr wrap="square" rtlCol="0" anchor="ctr"/>
          <a:lstStyle/>
          <a:p>
            <a:pPr marL="0" indent="0" algn="r">
              <a:buNone/>
            </a:pPr>
            <a:r>
              <a:rPr lang="en-US" sz="4600" b="1" dirty="0">
                <a:solidFill>
                  <a:srgbClr val="E3E8EE"/>
                </a:solidFill>
                <a:latin typeface="Cambria" pitchFamily="34" charset="0"/>
                <a:ea typeface="Cambria" pitchFamily="34" charset="-122"/>
                <a:cs typeface="Cambria" pitchFamily="34" charset="-120"/>
              </a:rPr>
              <a:t>01</a:t>
            </a:r>
            <a:endParaRPr lang="en-US" sz="4600" dirty="0"/>
          </a:p>
        </p:txBody>
      </p:sp>
      <p:sp>
        <p:nvSpPr>
          <p:cNvPr id="4" name="Text 2"/>
          <p:cNvSpPr/>
          <p:nvPr/>
        </p:nvSpPr>
        <p:spPr>
          <a:xfrm>
            <a:off x="548640" y="658368"/>
            <a:ext cx="96012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신도심: 보육·교육 인프라 확충 가속화</a:t>
            </a:r>
            <a:endParaRPr lang="en-US" sz="3000" dirty="0"/>
          </a:p>
        </p:txBody>
      </p:sp>
      <p:sp>
        <p:nvSpPr>
          <p:cNvPr id="5" name="Shape 3"/>
          <p:cNvSpPr/>
          <p:nvPr/>
        </p:nvSpPr>
        <p:spPr>
          <a:xfrm>
            <a:off x="548640" y="1508760"/>
            <a:ext cx="11064240" cy="1234440"/>
          </a:xfrm>
          <a:prstGeom prst="roundRect">
            <a:avLst>
              <a:gd name="adj" fmla="val 5926"/>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6" name="Shape 4"/>
          <p:cNvSpPr/>
          <p:nvPr/>
        </p:nvSpPr>
        <p:spPr>
          <a:xfrm>
            <a:off x="777240" y="1691640"/>
            <a:ext cx="310896" cy="310896"/>
          </a:xfrm>
          <a:prstGeom prst="roundRect">
            <a:avLst>
              <a:gd name="adj" fmla="val 20588"/>
            </a:avLst>
          </a:prstGeom>
          <a:solidFill>
            <a:srgbClr val="2E8B57"/>
          </a:solidFill>
          <a:ln/>
        </p:spPr>
      </p:sp>
      <p:sp>
        <p:nvSpPr>
          <p:cNvPr id="7" name="Text 5"/>
          <p:cNvSpPr/>
          <p:nvPr/>
        </p:nvSpPr>
        <p:spPr>
          <a:xfrm>
            <a:off x="1207008" y="1673352"/>
            <a:ext cx="2743200" cy="347472"/>
          </a:xfrm>
          <a:prstGeom prst="rect">
            <a:avLst/>
          </a:prstGeom>
          <a:noFill/>
          <a:ln/>
        </p:spPr>
        <p:txBody>
          <a:bodyPr wrap="square" rtlCol="0" anchor="ctr"/>
          <a:lstStyle/>
          <a:p>
            <a:pPr marL="0" indent="0">
              <a:buNone/>
            </a:pPr>
            <a:r>
              <a:rPr lang="en-US" sz="1250" b="1" dirty="0">
                <a:solidFill>
                  <a:srgbClr val="2E8B57"/>
                </a:solidFill>
                <a:latin typeface="Calibri" pitchFamily="34" charset="0"/>
                <a:ea typeface="Calibri" pitchFamily="34" charset="-122"/>
                <a:cs typeface="Calibri" pitchFamily="34" charset="-120"/>
              </a:rPr>
              <a:t>데이터 근거</a:t>
            </a:r>
            <a:endParaRPr lang="en-US" sz="1250" dirty="0"/>
          </a:p>
        </p:txBody>
      </p:sp>
      <p:sp>
        <p:nvSpPr>
          <p:cNvPr id="8" name="Text 6"/>
          <p:cNvSpPr/>
          <p:nvPr/>
        </p:nvSpPr>
        <p:spPr>
          <a:xfrm>
            <a:off x="822960" y="2057400"/>
            <a:ext cx="10515600" cy="621792"/>
          </a:xfrm>
          <a:prstGeom prst="rect">
            <a:avLst/>
          </a:prstGeom>
          <a:noFill/>
          <a:ln/>
        </p:spPr>
        <p:txBody>
          <a:bodyPr wrap="square" rtlCol="0" anchor="t"/>
          <a:lstStyle/>
          <a:p>
            <a:pPr marL="0" indent="0">
              <a:lnSpc>
                <a:spcPct val="125000"/>
              </a:lnSpc>
              <a:buNone/>
            </a:pPr>
            <a:r>
              <a:rPr lang="en-US" sz="1250" dirty="0">
                <a:solidFill>
                  <a:srgbClr val="1B2430"/>
                </a:solidFill>
                <a:latin typeface="Calibri" pitchFamily="34" charset="0"/>
                <a:ea typeface="Calibri" pitchFamily="34" charset="-122"/>
                <a:cs typeface="Calibri" pitchFamily="34" charset="-120"/>
              </a:rPr>
              <a:t>고덕동(+232%)·세교동(+67%)·송탄동(+60%)·동삭동(+16%) 등 신도심 10곳은 10년간 인구가 급증했고, 유소년비율(8~16%)이 평택시 평균(7.5%)보다 뚜렷하게 높습니다.</a:t>
            </a:r>
            <a:endParaRPr lang="en-US" sz="1250" dirty="0"/>
          </a:p>
        </p:txBody>
      </p:sp>
      <p:sp>
        <p:nvSpPr>
          <p:cNvPr id="9" name="Shape 7"/>
          <p:cNvSpPr/>
          <p:nvPr/>
        </p:nvSpPr>
        <p:spPr>
          <a:xfrm>
            <a:off x="548640" y="2880360"/>
            <a:ext cx="11064240"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0" name="Shape 8"/>
          <p:cNvSpPr/>
          <p:nvPr/>
        </p:nvSpPr>
        <p:spPr>
          <a:xfrm>
            <a:off x="777240" y="3063240"/>
            <a:ext cx="310896" cy="310896"/>
          </a:xfrm>
          <a:prstGeom prst="roundRect">
            <a:avLst>
              <a:gd name="adj" fmla="val 20588"/>
            </a:avLst>
          </a:prstGeom>
          <a:solidFill>
            <a:srgbClr val="1E3A5F"/>
          </a:solidFill>
          <a:ln/>
        </p:spPr>
      </p:sp>
      <p:sp>
        <p:nvSpPr>
          <p:cNvPr id="11" name="Text 9"/>
          <p:cNvSpPr/>
          <p:nvPr/>
        </p:nvSpPr>
        <p:spPr>
          <a:xfrm>
            <a:off x="1207008" y="3044952"/>
            <a:ext cx="2743200" cy="347472"/>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외부 자료 근거</a:t>
            </a:r>
            <a:endParaRPr lang="en-US" sz="1250" dirty="0"/>
          </a:p>
        </p:txBody>
      </p:sp>
      <p:sp>
        <p:nvSpPr>
          <p:cNvPr id="12" name="Text 10"/>
          <p:cNvSpPr/>
          <p:nvPr/>
        </p:nvSpPr>
        <p:spPr>
          <a:xfrm>
            <a:off x="822960" y="3429000"/>
            <a:ext cx="10515600" cy="822960"/>
          </a:xfrm>
          <a:prstGeom prst="rect">
            <a:avLst/>
          </a:prstGeom>
          <a:noFill/>
          <a:ln/>
        </p:spPr>
        <p:txBody>
          <a:bodyPr wrap="square" rtlCol="0" anchor="t"/>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국공립어린이집 정원 6,001명 대비 현원 4,819명, 대기자 8,720명(2026.04)으로 수급 불균형이 이미 현실화. 고덕국제화계획지구는 '고덕8초'(41학급)가 2028년 9월 개교 목표로 신설 확정, 에듀타운 구역에는 유·초·중·고 13개교 신설 계획.</a:t>
            </a:r>
            <a:endParaRPr lang="en-US" sz="1200" dirty="0"/>
          </a:p>
        </p:txBody>
      </p:sp>
      <p:sp>
        <p:nvSpPr>
          <p:cNvPr id="13" name="Text 11"/>
          <p:cNvSpPr/>
          <p:nvPr/>
        </p:nvSpPr>
        <p:spPr>
          <a:xfrm>
            <a:off x="548640" y="4480560"/>
            <a:ext cx="2743200" cy="32004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정책 제안</a:t>
            </a:r>
            <a:endParaRPr lang="en-US" sz="1300" dirty="0"/>
          </a:p>
        </p:txBody>
      </p:sp>
      <p:sp>
        <p:nvSpPr>
          <p:cNvPr id="14" name="Shape 12"/>
          <p:cNvSpPr/>
          <p:nvPr/>
        </p:nvSpPr>
        <p:spPr>
          <a:xfrm>
            <a:off x="548640" y="4846320"/>
            <a:ext cx="201168" cy="201168"/>
          </a:xfrm>
          <a:prstGeom prst="roundRect">
            <a:avLst>
              <a:gd name="adj" fmla="val 18182"/>
            </a:avLst>
          </a:prstGeom>
          <a:solidFill>
            <a:srgbClr val="2E8B57"/>
          </a:solidFill>
          <a:ln/>
        </p:spPr>
      </p:sp>
      <p:sp>
        <p:nvSpPr>
          <p:cNvPr id="15" name="Text 13"/>
          <p:cNvSpPr/>
          <p:nvPr/>
        </p:nvSpPr>
        <p:spPr>
          <a:xfrm>
            <a:off x="868680" y="472744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국공립어린이집을 정원 총량이 아닌 단지별·연령별 실제 거주 아동 수 기준으로 재배치</a:t>
            </a:r>
            <a:endParaRPr lang="en-US" sz="1250" dirty="0"/>
          </a:p>
        </p:txBody>
      </p:sp>
      <p:sp>
        <p:nvSpPr>
          <p:cNvPr id="16" name="Shape 14"/>
          <p:cNvSpPr/>
          <p:nvPr/>
        </p:nvSpPr>
        <p:spPr>
          <a:xfrm>
            <a:off x="548640" y="5349240"/>
            <a:ext cx="201168" cy="201168"/>
          </a:xfrm>
          <a:prstGeom prst="roundRect">
            <a:avLst>
              <a:gd name="adj" fmla="val 18182"/>
            </a:avLst>
          </a:prstGeom>
          <a:solidFill>
            <a:srgbClr val="2E8B57"/>
          </a:solidFill>
          <a:ln/>
        </p:spPr>
      </p:sp>
      <p:sp>
        <p:nvSpPr>
          <p:cNvPr id="17" name="Text 15"/>
          <p:cNvSpPr/>
          <p:nvPr/>
        </p:nvSpPr>
        <p:spPr>
          <a:xfrm>
            <a:off x="868680" y="523036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학교 신설(2028년 개교)까지 2년 공백기 대응책 마련 — 임시 교실 증축, 통학 지원</a:t>
            </a:r>
            <a:endParaRPr lang="en-US" sz="1250" dirty="0"/>
          </a:p>
        </p:txBody>
      </p:sp>
      <p:sp>
        <p:nvSpPr>
          <p:cNvPr id="18" name="Shape 16"/>
          <p:cNvSpPr/>
          <p:nvPr/>
        </p:nvSpPr>
        <p:spPr>
          <a:xfrm>
            <a:off x="548640" y="5852160"/>
            <a:ext cx="201168" cy="201168"/>
          </a:xfrm>
          <a:prstGeom prst="roundRect">
            <a:avLst>
              <a:gd name="adj" fmla="val 18182"/>
            </a:avLst>
          </a:prstGeom>
          <a:solidFill>
            <a:srgbClr val="2E8B57"/>
          </a:solidFill>
          <a:ln/>
        </p:spPr>
      </p:sp>
      <p:sp>
        <p:nvSpPr>
          <p:cNvPr id="19" name="Text 17"/>
          <p:cNvSpPr/>
          <p:nvPr/>
        </p:nvSpPr>
        <p:spPr>
          <a:xfrm>
            <a:off x="868680" y="573328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세교동·송탄동 등 이미 60%대 성장 지역도 2차 확충 대상으로 선제 모니터링</a:t>
            </a:r>
            <a:endParaRPr lang="en-US" sz="1250" dirty="0"/>
          </a:p>
        </p:txBody>
      </p:sp>
      <p:sp>
        <p:nvSpPr>
          <p:cNvPr id="20" name="Text 1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04. 정책 제안 — 원도심 · 면</a:t>
            </a:r>
            <a:endParaRPr lang="en-US" sz="1200" dirty="0"/>
          </a:p>
        </p:txBody>
      </p:sp>
      <p:sp>
        <p:nvSpPr>
          <p:cNvPr id="3" name="Text 1"/>
          <p:cNvSpPr/>
          <p:nvPr/>
        </p:nvSpPr>
        <p:spPr>
          <a:xfrm>
            <a:off x="10561320" y="548640"/>
            <a:ext cx="1188720" cy="914400"/>
          </a:xfrm>
          <a:prstGeom prst="rect">
            <a:avLst/>
          </a:prstGeom>
          <a:noFill/>
          <a:ln/>
        </p:spPr>
        <p:txBody>
          <a:bodyPr wrap="square" rtlCol="0" anchor="ctr"/>
          <a:lstStyle/>
          <a:p>
            <a:pPr marL="0" indent="0" algn="r">
              <a:buNone/>
            </a:pPr>
            <a:r>
              <a:rPr lang="en-US" sz="4600" b="1" dirty="0">
                <a:solidFill>
                  <a:srgbClr val="E3E8EE"/>
                </a:solidFill>
                <a:latin typeface="Cambria" pitchFamily="34" charset="0"/>
                <a:ea typeface="Cambria" pitchFamily="34" charset="-122"/>
                <a:cs typeface="Cambria" pitchFamily="34" charset="-120"/>
              </a:rPr>
              <a:t>02</a:t>
            </a:r>
            <a:endParaRPr lang="en-US" sz="4600" dirty="0"/>
          </a:p>
        </p:txBody>
      </p:sp>
      <p:sp>
        <p:nvSpPr>
          <p:cNvPr id="4" name="Text 2"/>
          <p:cNvSpPr/>
          <p:nvPr/>
        </p:nvSpPr>
        <p:spPr>
          <a:xfrm>
            <a:off x="548640" y="658368"/>
            <a:ext cx="96012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원도심·면 지역: 고령친화 정책 및 인구활력 대응</a:t>
            </a:r>
            <a:endParaRPr lang="en-US" sz="3000" dirty="0"/>
          </a:p>
        </p:txBody>
      </p:sp>
      <p:sp>
        <p:nvSpPr>
          <p:cNvPr id="5" name="Shape 3"/>
          <p:cNvSpPr/>
          <p:nvPr/>
        </p:nvSpPr>
        <p:spPr>
          <a:xfrm>
            <a:off x="548640" y="1508760"/>
            <a:ext cx="11064240" cy="1234440"/>
          </a:xfrm>
          <a:prstGeom prst="roundRect">
            <a:avLst>
              <a:gd name="adj" fmla="val 5926"/>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6" name="Shape 4"/>
          <p:cNvSpPr/>
          <p:nvPr/>
        </p:nvSpPr>
        <p:spPr>
          <a:xfrm>
            <a:off x="777240" y="1691640"/>
            <a:ext cx="310896" cy="310896"/>
          </a:xfrm>
          <a:prstGeom prst="roundRect">
            <a:avLst>
              <a:gd name="adj" fmla="val 20588"/>
            </a:avLst>
          </a:prstGeom>
          <a:solidFill>
            <a:srgbClr val="B2432D"/>
          </a:solidFill>
          <a:ln/>
        </p:spPr>
      </p:sp>
      <p:sp>
        <p:nvSpPr>
          <p:cNvPr id="7" name="Text 5"/>
          <p:cNvSpPr/>
          <p:nvPr/>
        </p:nvSpPr>
        <p:spPr>
          <a:xfrm>
            <a:off x="1207008" y="1673352"/>
            <a:ext cx="2743200" cy="347472"/>
          </a:xfrm>
          <a:prstGeom prst="rect">
            <a:avLst/>
          </a:prstGeom>
          <a:noFill/>
          <a:ln/>
        </p:spPr>
        <p:txBody>
          <a:bodyPr wrap="square" rtlCol="0" anchor="ctr"/>
          <a:lstStyle/>
          <a:p>
            <a:pPr marL="0" indent="0">
              <a:buNone/>
            </a:pPr>
            <a:r>
              <a:rPr lang="en-US" sz="1250" b="1" dirty="0">
                <a:solidFill>
                  <a:srgbClr val="B2432D"/>
                </a:solidFill>
                <a:latin typeface="Calibri" pitchFamily="34" charset="0"/>
                <a:ea typeface="Calibri" pitchFamily="34" charset="-122"/>
                <a:cs typeface="Calibri" pitchFamily="34" charset="-120"/>
              </a:rPr>
              <a:t>데이터 근거</a:t>
            </a:r>
            <a:endParaRPr lang="en-US" sz="1250" dirty="0"/>
          </a:p>
        </p:txBody>
      </p:sp>
      <p:sp>
        <p:nvSpPr>
          <p:cNvPr id="8" name="Text 6"/>
          <p:cNvSpPr/>
          <p:nvPr/>
        </p:nvSpPr>
        <p:spPr>
          <a:xfrm>
            <a:off x="822960" y="2057400"/>
            <a:ext cx="10515600" cy="621792"/>
          </a:xfrm>
          <a:prstGeom prst="rect">
            <a:avLst/>
          </a:prstGeom>
          <a:noFill/>
          <a:ln/>
        </p:spPr>
        <p:txBody>
          <a:bodyPr wrap="square" rtlCol="0" anchor="t"/>
          <a:lstStyle/>
          <a:p>
            <a:pPr marL="0" indent="0">
              <a:lnSpc>
                <a:spcPct val="125000"/>
              </a:lnSpc>
              <a:buNone/>
            </a:pPr>
            <a:r>
              <a:rPr lang="en-US" sz="1250" dirty="0">
                <a:solidFill>
                  <a:srgbClr val="1B2430"/>
                </a:solidFill>
                <a:latin typeface="Calibri" pitchFamily="34" charset="0"/>
                <a:ea typeface="Calibri" pitchFamily="34" charset="-122"/>
                <a:cs typeface="Calibri" pitchFamily="34" charset="-120"/>
              </a:rPr>
              <a:t>서탄면(고령 37%)·오성면(35%)·신장2동(31%)은 고령비율이 매우 높고, 동시에 10년간 인구가 15~32% 감소했습니다.</a:t>
            </a:r>
            <a:endParaRPr lang="en-US" sz="1250" dirty="0"/>
          </a:p>
        </p:txBody>
      </p:sp>
      <p:sp>
        <p:nvSpPr>
          <p:cNvPr id="9" name="Shape 7"/>
          <p:cNvSpPr/>
          <p:nvPr/>
        </p:nvSpPr>
        <p:spPr>
          <a:xfrm>
            <a:off x="548640" y="2880360"/>
            <a:ext cx="11064240" cy="1417320"/>
          </a:xfrm>
          <a:prstGeom prst="roundRect">
            <a:avLst>
              <a:gd name="adj" fmla="val 5161"/>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0" name="Shape 8"/>
          <p:cNvSpPr/>
          <p:nvPr/>
        </p:nvSpPr>
        <p:spPr>
          <a:xfrm>
            <a:off x="777240" y="3063240"/>
            <a:ext cx="310896" cy="310896"/>
          </a:xfrm>
          <a:prstGeom prst="roundRect">
            <a:avLst>
              <a:gd name="adj" fmla="val 20588"/>
            </a:avLst>
          </a:prstGeom>
          <a:solidFill>
            <a:srgbClr val="1E3A5F"/>
          </a:solidFill>
          <a:ln/>
        </p:spPr>
      </p:sp>
      <p:sp>
        <p:nvSpPr>
          <p:cNvPr id="11" name="Text 9"/>
          <p:cNvSpPr/>
          <p:nvPr/>
        </p:nvSpPr>
        <p:spPr>
          <a:xfrm>
            <a:off x="1207008" y="3044952"/>
            <a:ext cx="2743200" cy="347472"/>
          </a:xfrm>
          <a:prstGeom prst="rect">
            <a:avLst/>
          </a:prstGeom>
          <a:noFill/>
          <a:ln/>
        </p:spPr>
        <p:txBody>
          <a:bodyPr wrap="square"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외부 자료 근거</a:t>
            </a:r>
            <a:endParaRPr lang="en-US" sz="1250" dirty="0"/>
          </a:p>
        </p:txBody>
      </p:sp>
      <p:sp>
        <p:nvSpPr>
          <p:cNvPr id="12" name="Text 10"/>
          <p:cNvSpPr/>
          <p:nvPr/>
        </p:nvSpPr>
        <p:spPr>
          <a:xfrm>
            <a:off x="822960" y="3429000"/>
            <a:ext cx="10515600" cy="822960"/>
          </a:xfrm>
          <a:prstGeom prst="rect">
            <a:avLst/>
          </a:prstGeom>
          <a:noFill/>
          <a:ln/>
        </p:spPr>
        <p:txBody>
          <a:bodyPr wrap="square" rtlCol="0" anchor="t"/>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평택시는 중기부 공모사업 선정으로 AI 기반 노인 돌봄 안전망을 시립노인전문요양원에 시범 도입 중. 2026년 3월부터 경기도 31개 시·군에서 '돌봄통합지원법'에 따른 통합돌봄 시행. 정부는 「인구감소지역 지원 특별법」으로 8개 지표 기반 '인구감소지수'를 산정 — 본 분석의 증감률×고령비율 매트릭스와 사실상 동일한 접근입니다.</a:t>
            </a:r>
            <a:endParaRPr lang="en-US" sz="1200" dirty="0"/>
          </a:p>
        </p:txBody>
      </p:sp>
      <p:sp>
        <p:nvSpPr>
          <p:cNvPr id="13" name="Text 11"/>
          <p:cNvSpPr/>
          <p:nvPr/>
        </p:nvSpPr>
        <p:spPr>
          <a:xfrm>
            <a:off x="548640" y="4480560"/>
            <a:ext cx="2743200" cy="32004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정책 제안</a:t>
            </a:r>
            <a:endParaRPr lang="en-US" sz="1300" dirty="0"/>
          </a:p>
        </p:txBody>
      </p:sp>
      <p:sp>
        <p:nvSpPr>
          <p:cNvPr id="14" name="Shape 12"/>
          <p:cNvSpPr/>
          <p:nvPr/>
        </p:nvSpPr>
        <p:spPr>
          <a:xfrm>
            <a:off x="548640" y="4846320"/>
            <a:ext cx="201168" cy="201168"/>
          </a:xfrm>
          <a:prstGeom prst="roundRect">
            <a:avLst>
              <a:gd name="adj" fmla="val 18182"/>
            </a:avLst>
          </a:prstGeom>
          <a:solidFill>
            <a:srgbClr val="B2432D"/>
          </a:solidFill>
          <a:ln/>
        </p:spPr>
      </p:sp>
      <p:sp>
        <p:nvSpPr>
          <p:cNvPr id="15" name="Text 13"/>
          <p:cNvSpPr/>
          <p:nvPr/>
        </p:nvSpPr>
        <p:spPr>
          <a:xfrm>
            <a:off x="868680" y="472744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서탄면·오성면·신장2동을 '읍면동 단위 인구활력 관리 대상'으로 지정, 통합돌봄 서비스 우선 홍보</a:t>
            </a:r>
            <a:endParaRPr lang="en-US" sz="1250" dirty="0"/>
          </a:p>
        </p:txBody>
      </p:sp>
      <p:sp>
        <p:nvSpPr>
          <p:cNvPr id="16" name="Shape 14"/>
          <p:cNvSpPr/>
          <p:nvPr/>
        </p:nvSpPr>
        <p:spPr>
          <a:xfrm>
            <a:off x="548640" y="5349240"/>
            <a:ext cx="201168" cy="201168"/>
          </a:xfrm>
          <a:prstGeom prst="roundRect">
            <a:avLst>
              <a:gd name="adj" fmla="val 18182"/>
            </a:avLst>
          </a:prstGeom>
          <a:solidFill>
            <a:srgbClr val="B2432D"/>
          </a:solidFill>
          <a:ln/>
        </p:spPr>
      </p:sp>
      <p:sp>
        <p:nvSpPr>
          <p:cNvPr id="17" name="Text 15"/>
          <p:cNvSpPr/>
          <p:nvPr/>
        </p:nvSpPr>
        <p:spPr>
          <a:xfrm>
            <a:off x="868680" y="523036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평택시 AI 돌봄 시범사업의 2차 확대 대상지로 고령비율 상위 지역 우선 검토 건의</a:t>
            </a:r>
            <a:endParaRPr lang="en-US" sz="1250" dirty="0"/>
          </a:p>
        </p:txBody>
      </p:sp>
      <p:sp>
        <p:nvSpPr>
          <p:cNvPr id="18" name="Shape 16"/>
          <p:cNvSpPr/>
          <p:nvPr/>
        </p:nvSpPr>
        <p:spPr>
          <a:xfrm>
            <a:off x="548640" y="5852160"/>
            <a:ext cx="201168" cy="201168"/>
          </a:xfrm>
          <a:prstGeom prst="roundRect">
            <a:avLst>
              <a:gd name="adj" fmla="val 18182"/>
            </a:avLst>
          </a:prstGeom>
          <a:solidFill>
            <a:srgbClr val="B2432D"/>
          </a:solidFill>
          <a:ln/>
        </p:spPr>
      </p:sp>
      <p:sp>
        <p:nvSpPr>
          <p:cNvPr id="19" name="Text 17"/>
          <p:cNvSpPr/>
          <p:nvPr/>
        </p:nvSpPr>
        <p:spPr>
          <a:xfrm>
            <a:off x="868680" y="5733288"/>
            <a:ext cx="10698480" cy="502920"/>
          </a:xfrm>
          <a:prstGeom prst="rect">
            <a:avLst/>
          </a:prstGeom>
          <a:noFill/>
          <a:ln/>
        </p:spPr>
        <p:txBody>
          <a:bodyPr wrap="square" rtlCol="0" anchor="ctr"/>
          <a:lstStyle/>
          <a:p>
            <a:pPr marL="0" indent="0">
              <a:lnSpc>
                <a:spcPct val="115000"/>
              </a:lnSpc>
              <a:buNone/>
            </a:pPr>
            <a:r>
              <a:rPr lang="en-US" sz="1250" dirty="0">
                <a:solidFill>
                  <a:srgbClr val="1B2430"/>
                </a:solidFill>
                <a:latin typeface="Calibri" pitchFamily="34" charset="0"/>
                <a:ea typeface="Calibri" pitchFamily="34" charset="-122"/>
                <a:cs typeface="Calibri" pitchFamily="34" charset="-120"/>
              </a:rPr>
              <a:t>시 전체는 인구감소지역 지정 대상이 아니지만, 읍면동 단위 별도 지원 예산 편성 검토</a:t>
            </a:r>
            <a:endParaRPr lang="en-US" sz="1250" dirty="0"/>
          </a:p>
        </p:txBody>
      </p:sp>
      <p:sp>
        <p:nvSpPr>
          <p:cNvPr id="20" name="Text 1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04. 정책 제안 — 혼재형 · 확장 아이디어</a:t>
            </a:r>
            <a:endParaRPr lang="en-US" sz="1200" dirty="0"/>
          </a:p>
        </p:txBody>
      </p:sp>
      <p:sp>
        <p:nvSpPr>
          <p:cNvPr id="3" name="Text 1"/>
          <p:cNvSpPr/>
          <p:nvPr/>
        </p:nvSpPr>
        <p:spPr>
          <a:xfrm>
            <a:off x="10561320" y="548640"/>
            <a:ext cx="1188720" cy="914400"/>
          </a:xfrm>
          <a:prstGeom prst="rect">
            <a:avLst/>
          </a:prstGeom>
          <a:noFill/>
          <a:ln/>
        </p:spPr>
        <p:txBody>
          <a:bodyPr wrap="square" rtlCol="0" anchor="ctr"/>
          <a:lstStyle/>
          <a:p>
            <a:pPr marL="0" indent="0" algn="r">
              <a:buNone/>
            </a:pPr>
            <a:r>
              <a:rPr lang="en-US" sz="4600" b="1" dirty="0">
                <a:solidFill>
                  <a:srgbClr val="E3E8EE"/>
                </a:solidFill>
                <a:latin typeface="Cambria" pitchFamily="34" charset="0"/>
                <a:ea typeface="Cambria" pitchFamily="34" charset="-122"/>
                <a:cs typeface="Cambria" pitchFamily="34" charset="-120"/>
              </a:rPr>
              <a:t>03</a:t>
            </a:r>
            <a:endParaRPr lang="en-US" sz="4600" dirty="0"/>
          </a:p>
        </p:txBody>
      </p:sp>
      <p:sp>
        <p:nvSpPr>
          <p:cNvPr id="4" name="Text 2"/>
          <p:cNvSpPr/>
          <p:nvPr/>
        </p:nvSpPr>
        <p:spPr>
          <a:xfrm>
            <a:off x="548640" y="658368"/>
            <a:ext cx="96012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혼재형 지역 모니터링 + 정책 확장 아이디어</a:t>
            </a:r>
            <a:endParaRPr lang="en-US" sz="3000" dirty="0"/>
          </a:p>
        </p:txBody>
      </p:sp>
      <p:sp>
        <p:nvSpPr>
          <p:cNvPr id="5" name="Shape 3"/>
          <p:cNvSpPr/>
          <p:nvPr/>
        </p:nvSpPr>
        <p:spPr>
          <a:xfrm>
            <a:off x="548640" y="1508760"/>
            <a:ext cx="11064240" cy="1371600"/>
          </a:xfrm>
          <a:prstGeom prst="roundRect">
            <a:avLst>
              <a:gd name="adj" fmla="val 5333"/>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6" name="Shape 4"/>
          <p:cNvSpPr/>
          <p:nvPr/>
        </p:nvSpPr>
        <p:spPr>
          <a:xfrm>
            <a:off x="777240" y="1691640"/>
            <a:ext cx="310896" cy="310896"/>
          </a:xfrm>
          <a:prstGeom prst="roundRect">
            <a:avLst>
              <a:gd name="adj" fmla="val 20588"/>
            </a:avLst>
          </a:prstGeom>
          <a:solidFill>
            <a:srgbClr val="C9932E"/>
          </a:solidFill>
          <a:ln/>
        </p:spPr>
      </p:sp>
      <p:sp>
        <p:nvSpPr>
          <p:cNvPr id="7" name="Text 5"/>
          <p:cNvSpPr/>
          <p:nvPr/>
        </p:nvSpPr>
        <p:spPr>
          <a:xfrm>
            <a:off x="1207008" y="1673352"/>
            <a:ext cx="7315200" cy="347472"/>
          </a:xfrm>
          <a:prstGeom prst="rect">
            <a:avLst/>
          </a:prstGeom>
          <a:noFill/>
          <a:ln/>
        </p:spPr>
        <p:txBody>
          <a:bodyPr wrap="square" rtlCol="0" anchor="ctr"/>
          <a:lstStyle/>
          <a:p>
            <a:pPr marL="0" indent="0">
              <a:buNone/>
            </a:pPr>
            <a:r>
              <a:rPr lang="en-US" sz="1250" b="1" dirty="0">
                <a:solidFill>
                  <a:srgbClr val="C9932E"/>
                </a:solidFill>
                <a:latin typeface="Calibri" pitchFamily="34" charset="0"/>
                <a:ea typeface="Calibri" pitchFamily="34" charset="-122"/>
                <a:cs typeface="Calibri" pitchFamily="34" charset="-120"/>
              </a:rPr>
              <a:t>혼재형 지역 (통복동 · 고덕면 · 신장1동)</a:t>
            </a:r>
            <a:endParaRPr lang="en-US" sz="1250" dirty="0"/>
          </a:p>
        </p:txBody>
      </p:sp>
      <p:sp>
        <p:nvSpPr>
          <p:cNvPr id="8" name="Text 6"/>
          <p:cNvSpPr/>
          <p:nvPr/>
        </p:nvSpPr>
        <p:spPr>
          <a:xfrm>
            <a:off x="822960" y="2057400"/>
            <a:ext cx="10515600" cy="777240"/>
          </a:xfrm>
          <a:prstGeom prst="rect">
            <a:avLst/>
          </a:prstGeom>
          <a:noFill/>
          <a:ln/>
        </p:spPr>
        <p:txBody>
          <a:bodyPr wrap="square" rtlCol="0" anchor="t"/>
          <a:lstStyle/>
          <a:p>
            <a:pPr marL="0" indent="0">
              <a:lnSpc>
                <a:spcPct val="130000"/>
              </a:lnSpc>
              <a:buNone/>
            </a:pPr>
            <a:r>
              <a:rPr lang="en-US" sz="1250" dirty="0">
                <a:solidFill>
                  <a:srgbClr val="1B2430"/>
                </a:solidFill>
                <a:latin typeface="Calibri" pitchFamily="34" charset="0"/>
                <a:ea typeface="Calibri" pitchFamily="34" charset="-122"/>
                <a:cs typeface="Calibri" pitchFamily="34" charset="-120"/>
              </a:rPr>
              <a:t>인구는 소폭 증가했지만 고령비율도 평균 이상인 지역입니다. 재개발/재건축 진행 여부, 유입 인구의 성격(신혼부부 vs 은퇴자 귀촌)을 추가 확인하여 성장형/고령형 중 정책 방향을 명확히 잡을 필요가 있습니다.</a:t>
            </a:r>
            <a:endParaRPr lang="en-US" sz="1250" dirty="0"/>
          </a:p>
        </p:txBody>
      </p:sp>
      <p:sp>
        <p:nvSpPr>
          <p:cNvPr id="9" name="Text 7"/>
          <p:cNvSpPr/>
          <p:nvPr/>
        </p:nvSpPr>
        <p:spPr>
          <a:xfrm>
            <a:off x="548640" y="3063240"/>
            <a:ext cx="3657600" cy="32004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정책 확장 아이디어</a:t>
            </a:r>
            <a:endParaRPr lang="en-US" sz="1300" dirty="0"/>
          </a:p>
        </p:txBody>
      </p:sp>
      <p:sp>
        <p:nvSpPr>
          <p:cNvPr id="10" name="Shape 8"/>
          <p:cNvSpPr/>
          <p:nvPr/>
        </p:nvSpPr>
        <p:spPr>
          <a:xfrm>
            <a:off x="548640" y="3429000"/>
            <a:ext cx="5440680" cy="2651760"/>
          </a:xfrm>
          <a:prstGeom prst="roundRect">
            <a:avLst>
              <a:gd name="adj" fmla="val 275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1" name="Text 9"/>
          <p:cNvSpPr/>
          <p:nvPr/>
        </p:nvSpPr>
        <p:spPr>
          <a:xfrm>
            <a:off x="822960" y="3611880"/>
            <a:ext cx="493776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① 평택 슬로타운</a:t>
            </a:r>
            <a:endParaRPr lang="en-US" sz="1500" dirty="0"/>
          </a:p>
        </p:txBody>
      </p:sp>
      <p:sp>
        <p:nvSpPr>
          <p:cNvPr id="12" name="Text 10"/>
          <p:cNvSpPr/>
          <p:nvPr/>
        </p:nvSpPr>
        <p:spPr>
          <a:xfrm>
            <a:off x="822960" y="4023360"/>
            <a:ext cx="4937760" cy="1874520"/>
          </a:xfrm>
          <a:prstGeom prst="rect">
            <a:avLst/>
          </a:prstGeom>
          <a:noFill/>
          <a:ln/>
        </p:spPr>
        <p:txBody>
          <a:bodyPr wrap="square" rtlCol="0" anchor="t"/>
          <a:lstStyle/>
          <a:p>
            <a:pPr marL="0" indent="0">
              <a:lnSpc>
                <a:spcPct val="135000"/>
              </a:lnSpc>
              <a:buNone/>
            </a:pPr>
            <a:r>
              <a:rPr lang="en-US" sz="1200" dirty="0">
                <a:solidFill>
                  <a:srgbClr val="5B6472"/>
                </a:solidFill>
                <a:latin typeface="Calibri" pitchFamily="34" charset="0"/>
                <a:ea typeface="Calibri" pitchFamily="34" charset="-122"/>
                <a:cs typeface="Calibri" pitchFamily="34" charset="-120"/>
              </a:rPr>
              <a:t>서울·경기 남부 은퇴 예정자를 대상으로 원도심 정착 지원 패키지(주거 리모델링 보조금 + 정착 컨설팅)를 제공해, 기존 주민 복지를 넘어 신규 유입으로 인구 감소 자체를 완화합니다.</a:t>
            </a:r>
            <a:endParaRPr lang="en-US" sz="1200" dirty="0"/>
          </a:p>
        </p:txBody>
      </p:sp>
      <p:sp>
        <p:nvSpPr>
          <p:cNvPr id="13" name="Shape 11"/>
          <p:cNvSpPr/>
          <p:nvPr/>
        </p:nvSpPr>
        <p:spPr>
          <a:xfrm>
            <a:off x="6172200" y="3429000"/>
            <a:ext cx="5440680" cy="2651760"/>
          </a:xfrm>
          <a:prstGeom prst="roundRect">
            <a:avLst>
              <a:gd name="adj" fmla="val 2759"/>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14" name="Text 12"/>
          <p:cNvSpPr/>
          <p:nvPr/>
        </p:nvSpPr>
        <p:spPr>
          <a:xfrm>
            <a:off x="6446520" y="3611880"/>
            <a:ext cx="493776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② 휴먼 라이브러리 순회 학교</a:t>
            </a:r>
            <a:endParaRPr lang="en-US" sz="1500" dirty="0"/>
          </a:p>
        </p:txBody>
      </p:sp>
      <p:sp>
        <p:nvSpPr>
          <p:cNvPr id="15" name="Text 13"/>
          <p:cNvSpPr/>
          <p:nvPr/>
        </p:nvSpPr>
        <p:spPr>
          <a:xfrm>
            <a:off x="6446520" y="4023360"/>
            <a:ext cx="4937760" cy="1874520"/>
          </a:xfrm>
          <a:prstGeom prst="rect">
            <a:avLst/>
          </a:prstGeom>
          <a:noFill/>
          <a:ln/>
        </p:spPr>
        <p:txBody>
          <a:bodyPr wrap="square" rtlCol="0" anchor="t"/>
          <a:lstStyle/>
          <a:p>
            <a:pPr marL="0" indent="0">
              <a:lnSpc>
                <a:spcPct val="135000"/>
              </a:lnSpc>
              <a:buNone/>
            </a:pPr>
            <a:r>
              <a:rPr lang="en-US" sz="1200" dirty="0">
                <a:solidFill>
                  <a:srgbClr val="5B6472"/>
                </a:solidFill>
                <a:latin typeface="Calibri" pitchFamily="34" charset="0"/>
                <a:ea typeface="Calibri" pitchFamily="34" charset="-122"/>
                <a:cs typeface="Calibri" pitchFamily="34" charset="-120"/>
              </a:rPr>
              <a:t>서탄면·오성면 어르신의 지역 지식(평택 농업사·전통 기술)을 신도심 학교의 지역화 교육과정과 연결하는 '찾아가는 어르신 강사' 프로그램. 어르신에게는 활동비·사회참여, 아이들에게는 지역정체성 교육을 제공합니다.</a:t>
            </a:r>
            <a:endParaRPr lang="en-US" sz="1200" dirty="0"/>
          </a:p>
        </p:txBody>
      </p:sp>
      <p:sp>
        <p:nvSpPr>
          <p:cNvPr id="16" name="Text 14"/>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83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종합 결론</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내부 데이터와 외부 정책 자료, 같은 결론을 가리키다</a:t>
            </a:r>
            <a:endParaRPr lang="en-US" sz="2700" dirty="0"/>
          </a:p>
        </p:txBody>
      </p:sp>
      <p:sp>
        <p:nvSpPr>
          <p:cNvPr id="4" name="Shape 2"/>
          <p:cNvSpPr/>
          <p:nvPr/>
        </p:nvSpPr>
        <p:spPr>
          <a:xfrm>
            <a:off x="548640" y="1508760"/>
            <a:ext cx="11064240" cy="1463040"/>
          </a:xfrm>
          <a:prstGeom prst="roundRect">
            <a:avLst>
              <a:gd name="adj" fmla="val 5000"/>
            </a:avLst>
          </a:prstGeom>
          <a:solidFill>
            <a:srgbClr val="1E2E48"/>
          </a:solidFill>
          <a:ln w="12700">
            <a:solidFill>
              <a:srgbClr val="2A3D5C"/>
            </a:solidFill>
            <a:prstDash val="solid"/>
          </a:ln>
          <a:effectLst>
            <a:outerShdw blurRad="101600" dist="25400" dir="5400000" algn="bl" rotWithShape="0">
              <a:srgbClr val="1B2430">
                <a:alpha val="12000"/>
              </a:srgbClr>
            </a:outerShdw>
          </a:effectLst>
        </p:spPr>
      </p:sp>
      <p:sp>
        <p:nvSpPr>
          <p:cNvPr id="5" name="Text 3"/>
          <p:cNvSpPr/>
          <p:nvPr/>
        </p:nvSpPr>
        <p:spPr>
          <a:xfrm>
            <a:off x="868680" y="1691640"/>
            <a:ext cx="10424160" cy="1143000"/>
          </a:xfrm>
          <a:prstGeom prst="rect">
            <a:avLst/>
          </a:prstGeom>
          <a:noFill/>
          <a:ln/>
        </p:spPr>
        <p:txBody>
          <a:bodyPr wrap="square" rtlCol="0" anchor="t"/>
          <a:lstStyle/>
          <a:p>
            <a:pPr marL="0" indent="0">
              <a:lnSpc>
                <a:spcPct val="135000"/>
              </a:lnSpc>
              <a:buNone/>
            </a:pPr>
            <a:r>
              <a:rPr lang="en-US" sz="1400" b="1" dirty="0">
                <a:solidFill>
                  <a:srgbClr val="C9932E"/>
                </a:solidFill>
                <a:latin typeface="Calibri" pitchFamily="34" charset="0"/>
                <a:ea typeface="Calibri" pitchFamily="34" charset="-122"/>
                <a:cs typeface="Calibri" pitchFamily="34" charset="-120"/>
              </a:rPr>
              <a:t>데이터 분석(내부)</a:t>
            </a:r>
            <a:r>
              <a:rPr lang="en-US" sz="1400" dirty="0">
                <a:solidFill>
                  <a:srgbClr val="EDF1F5"/>
                </a:solidFill>
                <a:latin typeface="Calibri" pitchFamily="34" charset="0"/>
                <a:ea typeface="Calibri" pitchFamily="34" charset="-122"/>
                <a:cs typeface="Calibri" pitchFamily="34" charset="-120"/>
              </a:rPr>
              <a:t>과 </a:t>
            </a:r>
            <a:r>
              <a:rPr lang="en-US" sz="1400" b="1" dirty="0">
                <a:solidFill>
                  <a:srgbClr val="C9932E"/>
                </a:solidFill>
                <a:latin typeface="Calibri" pitchFamily="34" charset="0"/>
                <a:ea typeface="Calibri" pitchFamily="34" charset="-122"/>
                <a:cs typeface="Calibri" pitchFamily="34" charset="-120"/>
              </a:rPr>
              <a:t>실제 정책·언론 자료(외부)</a:t>
            </a:r>
            <a:r>
              <a:rPr lang="en-US" sz="1400" dirty="0">
                <a:solidFill>
                  <a:srgbClr val="EDF1F5"/>
                </a:solidFill>
                <a:latin typeface="Calibri" pitchFamily="34" charset="0"/>
                <a:ea typeface="Calibri" pitchFamily="34" charset="-122"/>
                <a:cs typeface="Calibri" pitchFamily="34" charset="-120"/>
              </a:rPr>
              <a:t>가 서로 다른 경로로 도출되었음에도 같은 결론을 가리킵니다: 평택시는 신도심과 원도심/면 지역 사이의 양극화가 이미 진행 중이며, 각 지역에 필요한 정책의 성격이 명확히 다릅니다.</a:t>
            </a:r>
            <a:endParaRPr lang="en-US" sz="1400" dirty="0"/>
          </a:p>
        </p:txBody>
      </p:sp>
      <p:sp>
        <p:nvSpPr>
          <p:cNvPr id="6" name="Text 4"/>
          <p:cNvSpPr/>
          <p:nvPr/>
        </p:nvSpPr>
        <p:spPr>
          <a:xfrm>
            <a:off x="548640" y="3246120"/>
            <a:ext cx="11064240" cy="640080"/>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시 전체를 대상으로 한 획일적 정책보다, 4분면 유형(성장+젊음 / 성장+고령화 / 감소+고령화 / 감소+젊음)에 따라 예산과 정책을 차등 배분하는 접근이 더 효과적입니다.</a:t>
            </a:r>
            <a:endParaRPr lang="en-US" sz="1400" dirty="0"/>
          </a:p>
        </p:txBody>
      </p:sp>
      <p:sp>
        <p:nvSpPr>
          <p:cNvPr id="7" name="Shape 5"/>
          <p:cNvSpPr/>
          <p:nvPr/>
        </p:nvSpPr>
        <p:spPr>
          <a:xfrm>
            <a:off x="548640" y="4160520"/>
            <a:ext cx="2651760" cy="1737360"/>
          </a:xfrm>
          <a:prstGeom prst="roundRect">
            <a:avLst>
              <a:gd name="adj" fmla="val 4211"/>
            </a:avLst>
          </a:prstGeom>
          <a:solidFill>
            <a:srgbClr val="1E2E48"/>
          </a:solidFill>
          <a:ln w="19050">
            <a:solidFill>
              <a:srgbClr val="2E8B57"/>
            </a:solidFill>
            <a:prstDash val="solid"/>
          </a:ln>
        </p:spPr>
      </p:sp>
      <p:sp>
        <p:nvSpPr>
          <p:cNvPr id="8" name="Shape 6"/>
          <p:cNvSpPr/>
          <p:nvPr/>
        </p:nvSpPr>
        <p:spPr>
          <a:xfrm>
            <a:off x="1737360" y="4370832"/>
            <a:ext cx="274320" cy="274320"/>
          </a:xfrm>
          <a:prstGeom prst="ellipse">
            <a:avLst/>
          </a:prstGeom>
          <a:solidFill>
            <a:srgbClr val="2E8B57"/>
          </a:solidFill>
          <a:ln/>
        </p:spPr>
      </p:sp>
      <p:sp>
        <p:nvSpPr>
          <p:cNvPr id="9" name="Text 7"/>
          <p:cNvSpPr/>
          <p:nvPr/>
        </p:nvSpPr>
        <p:spPr>
          <a:xfrm>
            <a:off x="548640" y="4754880"/>
            <a:ext cx="2651760"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성장+젊음</a:t>
            </a:r>
            <a:endParaRPr lang="en-US" sz="1450" dirty="0"/>
          </a:p>
        </p:txBody>
      </p:sp>
      <p:sp>
        <p:nvSpPr>
          <p:cNvPr id="10" name="Text 8"/>
          <p:cNvSpPr/>
          <p:nvPr/>
        </p:nvSpPr>
        <p:spPr>
          <a:xfrm>
            <a:off x="548640" y="5212080"/>
            <a:ext cx="2651760" cy="548640"/>
          </a:xfrm>
          <a:prstGeom prst="rect">
            <a:avLst/>
          </a:prstGeom>
          <a:noFill/>
          <a:ln/>
        </p:spPr>
        <p:txBody>
          <a:bodyPr wrap="square" rtlCol="0" anchor="ctr"/>
          <a:lstStyle/>
          <a:p>
            <a:pPr marL="0" indent="0" algn="ctr">
              <a:buNone/>
            </a:pPr>
            <a:r>
              <a:rPr lang="en-US" sz="1150" dirty="0">
                <a:solidFill>
                  <a:srgbClr val="8A93A0"/>
                </a:solidFill>
                <a:latin typeface="Calibri" pitchFamily="34" charset="0"/>
                <a:ea typeface="Calibri" pitchFamily="34" charset="-122"/>
                <a:cs typeface="Calibri" pitchFamily="34" charset="-120"/>
              </a:rPr>
              <a:t>인프라 확충형</a:t>
            </a:r>
            <a:endParaRPr lang="en-US" sz="1150" dirty="0"/>
          </a:p>
        </p:txBody>
      </p:sp>
      <p:sp>
        <p:nvSpPr>
          <p:cNvPr id="11" name="Shape 9"/>
          <p:cNvSpPr/>
          <p:nvPr/>
        </p:nvSpPr>
        <p:spPr>
          <a:xfrm>
            <a:off x="3319272" y="4160520"/>
            <a:ext cx="2651760" cy="1737360"/>
          </a:xfrm>
          <a:prstGeom prst="roundRect">
            <a:avLst>
              <a:gd name="adj" fmla="val 4211"/>
            </a:avLst>
          </a:prstGeom>
          <a:solidFill>
            <a:srgbClr val="1E2E48"/>
          </a:solidFill>
          <a:ln w="19050">
            <a:solidFill>
              <a:srgbClr val="C9932E"/>
            </a:solidFill>
            <a:prstDash val="solid"/>
          </a:ln>
        </p:spPr>
      </p:sp>
      <p:sp>
        <p:nvSpPr>
          <p:cNvPr id="12" name="Shape 10"/>
          <p:cNvSpPr/>
          <p:nvPr/>
        </p:nvSpPr>
        <p:spPr>
          <a:xfrm>
            <a:off x="4507992" y="4370832"/>
            <a:ext cx="274320" cy="274320"/>
          </a:xfrm>
          <a:prstGeom prst="ellipse">
            <a:avLst/>
          </a:prstGeom>
          <a:solidFill>
            <a:srgbClr val="C9932E"/>
          </a:solidFill>
          <a:ln/>
        </p:spPr>
      </p:sp>
      <p:sp>
        <p:nvSpPr>
          <p:cNvPr id="13" name="Text 11"/>
          <p:cNvSpPr/>
          <p:nvPr/>
        </p:nvSpPr>
        <p:spPr>
          <a:xfrm>
            <a:off x="3319272" y="4754880"/>
            <a:ext cx="2651760"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성장+고령화</a:t>
            </a:r>
            <a:endParaRPr lang="en-US" sz="1450" dirty="0"/>
          </a:p>
        </p:txBody>
      </p:sp>
      <p:sp>
        <p:nvSpPr>
          <p:cNvPr id="14" name="Text 12"/>
          <p:cNvSpPr/>
          <p:nvPr/>
        </p:nvSpPr>
        <p:spPr>
          <a:xfrm>
            <a:off x="3319272" y="5212080"/>
            <a:ext cx="2651760" cy="548640"/>
          </a:xfrm>
          <a:prstGeom prst="rect">
            <a:avLst/>
          </a:prstGeom>
          <a:noFill/>
          <a:ln/>
        </p:spPr>
        <p:txBody>
          <a:bodyPr wrap="square" rtlCol="0" anchor="ctr"/>
          <a:lstStyle/>
          <a:p>
            <a:pPr marL="0" indent="0" algn="ctr">
              <a:buNone/>
            </a:pPr>
            <a:r>
              <a:rPr lang="en-US" sz="1150" dirty="0">
                <a:solidFill>
                  <a:srgbClr val="8A93A0"/>
                </a:solidFill>
                <a:latin typeface="Calibri" pitchFamily="34" charset="0"/>
                <a:ea typeface="Calibri" pitchFamily="34" charset="-122"/>
                <a:cs typeface="Calibri" pitchFamily="34" charset="-120"/>
              </a:rPr>
              <a:t>혼재형</a:t>
            </a:r>
            <a:endParaRPr lang="en-US" sz="1150" dirty="0"/>
          </a:p>
        </p:txBody>
      </p:sp>
      <p:sp>
        <p:nvSpPr>
          <p:cNvPr id="15" name="Shape 13"/>
          <p:cNvSpPr/>
          <p:nvPr/>
        </p:nvSpPr>
        <p:spPr>
          <a:xfrm>
            <a:off x="6089904" y="4160520"/>
            <a:ext cx="2651760" cy="1737360"/>
          </a:xfrm>
          <a:prstGeom prst="roundRect">
            <a:avLst>
              <a:gd name="adj" fmla="val 4211"/>
            </a:avLst>
          </a:prstGeom>
          <a:solidFill>
            <a:srgbClr val="1E2E48"/>
          </a:solidFill>
          <a:ln w="19050">
            <a:solidFill>
              <a:srgbClr val="B2432D"/>
            </a:solidFill>
            <a:prstDash val="solid"/>
          </a:ln>
        </p:spPr>
      </p:sp>
      <p:sp>
        <p:nvSpPr>
          <p:cNvPr id="16" name="Shape 14"/>
          <p:cNvSpPr/>
          <p:nvPr/>
        </p:nvSpPr>
        <p:spPr>
          <a:xfrm>
            <a:off x="7278624" y="4370832"/>
            <a:ext cx="274320" cy="274320"/>
          </a:xfrm>
          <a:prstGeom prst="ellipse">
            <a:avLst/>
          </a:prstGeom>
          <a:solidFill>
            <a:srgbClr val="B2432D"/>
          </a:solidFill>
          <a:ln/>
        </p:spPr>
      </p:sp>
      <p:sp>
        <p:nvSpPr>
          <p:cNvPr id="17" name="Text 15"/>
          <p:cNvSpPr/>
          <p:nvPr/>
        </p:nvSpPr>
        <p:spPr>
          <a:xfrm>
            <a:off x="6089904" y="4754880"/>
            <a:ext cx="2651760"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감소+고령화</a:t>
            </a:r>
            <a:endParaRPr lang="en-US" sz="1450" dirty="0"/>
          </a:p>
        </p:txBody>
      </p:sp>
      <p:sp>
        <p:nvSpPr>
          <p:cNvPr id="18" name="Text 16"/>
          <p:cNvSpPr/>
          <p:nvPr/>
        </p:nvSpPr>
        <p:spPr>
          <a:xfrm>
            <a:off x="6089904" y="5212080"/>
            <a:ext cx="2651760" cy="548640"/>
          </a:xfrm>
          <a:prstGeom prst="rect">
            <a:avLst/>
          </a:prstGeom>
          <a:noFill/>
          <a:ln/>
        </p:spPr>
        <p:txBody>
          <a:bodyPr wrap="square" rtlCol="0" anchor="ctr"/>
          <a:lstStyle/>
          <a:p>
            <a:pPr marL="0" indent="0" algn="ctr">
              <a:buNone/>
            </a:pPr>
            <a:r>
              <a:rPr lang="en-US" sz="1150" dirty="0">
                <a:solidFill>
                  <a:srgbClr val="8A93A0"/>
                </a:solidFill>
                <a:latin typeface="Calibri" pitchFamily="34" charset="0"/>
                <a:ea typeface="Calibri" pitchFamily="34" charset="-122"/>
                <a:cs typeface="Calibri" pitchFamily="34" charset="-120"/>
              </a:rPr>
              <a:t>쇠퇴 위험형</a:t>
            </a:r>
            <a:endParaRPr lang="en-US" sz="1150" dirty="0"/>
          </a:p>
        </p:txBody>
      </p:sp>
      <p:sp>
        <p:nvSpPr>
          <p:cNvPr id="19" name="Shape 17"/>
          <p:cNvSpPr/>
          <p:nvPr/>
        </p:nvSpPr>
        <p:spPr>
          <a:xfrm>
            <a:off x="8860536" y="4160520"/>
            <a:ext cx="2651760" cy="1737360"/>
          </a:xfrm>
          <a:prstGeom prst="roundRect">
            <a:avLst>
              <a:gd name="adj" fmla="val 4211"/>
            </a:avLst>
          </a:prstGeom>
          <a:solidFill>
            <a:srgbClr val="1E2E48"/>
          </a:solidFill>
          <a:ln w="19050">
            <a:solidFill>
              <a:srgbClr val="8A93A0"/>
            </a:solidFill>
            <a:prstDash val="solid"/>
          </a:ln>
        </p:spPr>
      </p:sp>
      <p:sp>
        <p:nvSpPr>
          <p:cNvPr id="20" name="Shape 18"/>
          <p:cNvSpPr/>
          <p:nvPr/>
        </p:nvSpPr>
        <p:spPr>
          <a:xfrm>
            <a:off x="10049256" y="4370832"/>
            <a:ext cx="274320" cy="274320"/>
          </a:xfrm>
          <a:prstGeom prst="ellipse">
            <a:avLst/>
          </a:prstGeom>
          <a:solidFill>
            <a:srgbClr val="8A93A0"/>
          </a:solidFill>
          <a:ln/>
        </p:spPr>
      </p:sp>
      <p:sp>
        <p:nvSpPr>
          <p:cNvPr id="21" name="Text 19"/>
          <p:cNvSpPr/>
          <p:nvPr/>
        </p:nvSpPr>
        <p:spPr>
          <a:xfrm>
            <a:off x="8860536" y="4754880"/>
            <a:ext cx="2651760"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감소+젊음</a:t>
            </a:r>
            <a:endParaRPr lang="en-US" sz="1450" dirty="0"/>
          </a:p>
        </p:txBody>
      </p:sp>
      <p:sp>
        <p:nvSpPr>
          <p:cNvPr id="22" name="Text 20"/>
          <p:cNvSpPr/>
          <p:nvPr/>
        </p:nvSpPr>
        <p:spPr>
          <a:xfrm>
            <a:off x="8860536" y="5212080"/>
            <a:ext cx="2651760" cy="548640"/>
          </a:xfrm>
          <a:prstGeom prst="rect">
            <a:avLst/>
          </a:prstGeom>
          <a:noFill/>
          <a:ln/>
        </p:spPr>
        <p:txBody>
          <a:bodyPr wrap="square" rtlCol="0" anchor="ctr"/>
          <a:lstStyle/>
          <a:p>
            <a:pPr marL="0" indent="0" algn="ctr">
              <a:buNone/>
            </a:pPr>
            <a:r>
              <a:rPr lang="en-US" sz="1150" dirty="0">
                <a:solidFill>
                  <a:srgbClr val="8A93A0"/>
                </a:solidFill>
                <a:latin typeface="Calibri" pitchFamily="34" charset="0"/>
                <a:ea typeface="Calibri" pitchFamily="34" charset="-122"/>
                <a:cs typeface="Calibri" pitchFamily="34" charset="-120"/>
              </a:rPr>
              <a:t>관찰필요형</a:t>
            </a:r>
            <a:endParaRPr lang="en-US" sz="1150" dirty="0"/>
          </a:p>
        </p:txBody>
      </p:sp>
      <p:sp>
        <p:nvSpPr>
          <p:cNvPr id="23" name="Text 21"/>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F1F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C9932E"/>
                </a:solidFill>
                <a:latin typeface="Calibri" pitchFamily="34" charset="0"/>
                <a:ea typeface="Calibri" pitchFamily="34" charset="-122"/>
                <a:cs typeface="Calibri" pitchFamily="34" charset="-120"/>
              </a:rPr>
              <a:t>참고자료</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외부 자료조사 출처</a:t>
            </a:r>
            <a:endParaRPr lang="en-US" sz="3000" dirty="0"/>
          </a:p>
        </p:txBody>
      </p:sp>
      <p:sp>
        <p:nvSpPr>
          <p:cNvPr id="4" name="Shape 2"/>
          <p:cNvSpPr/>
          <p:nvPr/>
        </p:nvSpPr>
        <p:spPr>
          <a:xfrm>
            <a:off x="548640" y="1463040"/>
            <a:ext cx="11064240" cy="4297680"/>
          </a:xfrm>
          <a:prstGeom prst="roundRect">
            <a:avLst>
              <a:gd name="adj" fmla="val 1702"/>
            </a:avLst>
          </a:prstGeom>
          <a:solidFill>
            <a:srgbClr val="FFFFFF"/>
          </a:solidFill>
          <a:ln w="12700">
            <a:solidFill>
              <a:srgbClr val="DDE3EA"/>
            </a:solidFill>
            <a:prstDash val="solid"/>
          </a:ln>
          <a:effectLst>
            <a:outerShdw blurRad="101600" dist="25400" dir="5400000" algn="bl" rotWithShape="0">
              <a:srgbClr val="1B2430">
                <a:alpha val="12000"/>
              </a:srgbClr>
            </a:outerShdw>
          </a:effectLst>
        </p:spPr>
      </p:sp>
      <p:sp>
        <p:nvSpPr>
          <p:cNvPr id="5" name="Shape 3"/>
          <p:cNvSpPr/>
          <p:nvPr/>
        </p:nvSpPr>
        <p:spPr>
          <a:xfrm>
            <a:off x="868680" y="1810512"/>
            <a:ext cx="73152" cy="73152"/>
          </a:xfrm>
          <a:prstGeom prst="ellipse">
            <a:avLst/>
          </a:prstGeom>
          <a:solidFill>
            <a:srgbClr val="C9932E"/>
          </a:solidFill>
          <a:ln/>
        </p:spPr>
      </p:sp>
      <p:sp>
        <p:nvSpPr>
          <p:cNvPr id="6" name="Text 4"/>
          <p:cNvSpPr/>
          <p:nvPr/>
        </p:nvSpPr>
        <p:spPr>
          <a:xfrm>
            <a:off x="1051560" y="1664208"/>
            <a:ext cx="512064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평택시사회복지협의회 - 2026년 노인맞춤돌봄서비스 사업</a:t>
            </a:r>
            <a:endParaRPr lang="en-US" sz="1150" dirty="0"/>
          </a:p>
        </p:txBody>
      </p:sp>
      <p:sp>
        <p:nvSpPr>
          <p:cNvPr id="7" name="Shape 5"/>
          <p:cNvSpPr/>
          <p:nvPr/>
        </p:nvSpPr>
        <p:spPr>
          <a:xfrm>
            <a:off x="868680" y="2468880"/>
            <a:ext cx="73152" cy="73152"/>
          </a:xfrm>
          <a:prstGeom prst="ellipse">
            <a:avLst/>
          </a:prstGeom>
          <a:solidFill>
            <a:srgbClr val="C9932E"/>
          </a:solidFill>
          <a:ln/>
        </p:spPr>
      </p:sp>
      <p:sp>
        <p:nvSpPr>
          <p:cNvPr id="8" name="Text 6"/>
          <p:cNvSpPr/>
          <p:nvPr/>
        </p:nvSpPr>
        <p:spPr>
          <a:xfrm>
            <a:off x="1051560" y="2322576"/>
            <a:ext cx="512064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세계환경신문 - 평택시, 'AI 기반 노인요양원 돌봄' 구축</a:t>
            </a:r>
            <a:endParaRPr lang="en-US" sz="1150" dirty="0"/>
          </a:p>
        </p:txBody>
      </p:sp>
      <p:sp>
        <p:nvSpPr>
          <p:cNvPr id="9" name="Shape 7"/>
          <p:cNvSpPr/>
          <p:nvPr/>
        </p:nvSpPr>
        <p:spPr>
          <a:xfrm>
            <a:off x="868680" y="3127248"/>
            <a:ext cx="73152" cy="73152"/>
          </a:xfrm>
          <a:prstGeom prst="ellipse">
            <a:avLst/>
          </a:prstGeom>
          <a:solidFill>
            <a:srgbClr val="C9932E"/>
          </a:solidFill>
          <a:ln/>
        </p:spPr>
      </p:sp>
      <p:sp>
        <p:nvSpPr>
          <p:cNvPr id="10" name="Text 8"/>
          <p:cNvSpPr/>
          <p:nvPr/>
        </p:nvSpPr>
        <p:spPr>
          <a:xfrm>
            <a:off x="1051560" y="2980944"/>
            <a:ext cx="512064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평택시사회복지협의회 - 2026년 더 좋아지는 경기도 복지·보건 정책</a:t>
            </a:r>
            <a:endParaRPr lang="en-US" sz="1150" dirty="0"/>
          </a:p>
        </p:txBody>
      </p:sp>
      <p:sp>
        <p:nvSpPr>
          <p:cNvPr id="11" name="Shape 9"/>
          <p:cNvSpPr/>
          <p:nvPr/>
        </p:nvSpPr>
        <p:spPr>
          <a:xfrm>
            <a:off x="868680" y="3785616"/>
            <a:ext cx="73152" cy="73152"/>
          </a:xfrm>
          <a:prstGeom prst="ellipse">
            <a:avLst/>
          </a:prstGeom>
          <a:solidFill>
            <a:srgbClr val="C9932E"/>
          </a:solidFill>
          <a:ln/>
        </p:spPr>
      </p:sp>
      <p:sp>
        <p:nvSpPr>
          <p:cNvPr id="12" name="Text 10"/>
          <p:cNvSpPr/>
          <p:nvPr/>
        </p:nvSpPr>
        <p:spPr>
          <a:xfrm>
            <a:off x="1051560" y="3639312"/>
            <a:ext cx="512064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B tv news - 평택 고덕, 초등학교 추가 신설 2028년 개교</a:t>
            </a:r>
            <a:endParaRPr lang="en-US" sz="1150" dirty="0"/>
          </a:p>
        </p:txBody>
      </p:sp>
      <p:sp>
        <p:nvSpPr>
          <p:cNvPr id="13" name="Shape 11"/>
          <p:cNvSpPr/>
          <p:nvPr/>
        </p:nvSpPr>
        <p:spPr>
          <a:xfrm>
            <a:off x="868680" y="4443984"/>
            <a:ext cx="73152" cy="73152"/>
          </a:xfrm>
          <a:prstGeom prst="ellipse">
            <a:avLst/>
          </a:prstGeom>
          <a:solidFill>
            <a:srgbClr val="C9932E"/>
          </a:solidFill>
          <a:ln/>
        </p:spPr>
      </p:sp>
      <p:sp>
        <p:nvSpPr>
          <p:cNvPr id="14" name="Text 12"/>
          <p:cNvSpPr/>
          <p:nvPr/>
        </p:nvSpPr>
        <p:spPr>
          <a:xfrm>
            <a:off x="1051560" y="4297680"/>
            <a:ext cx="512064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평택시민신문 - 고덕지구 8번째 초등학교 신설 확정</a:t>
            </a:r>
            <a:endParaRPr lang="en-US" sz="1150" dirty="0"/>
          </a:p>
        </p:txBody>
      </p:sp>
      <p:sp>
        <p:nvSpPr>
          <p:cNvPr id="15" name="Shape 13"/>
          <p:cNvSpPr/>
          <p:nvPr/>
        </p:nvSpPr>
        <p:spPr>
          <a:xfrm>
            <a:off x="6263640" y="1810512"/>
            <a:ext cx="73152" cy="73152"/>
          </a:xfrm>
          <a:prstGeom prst="ellipse">
            <a:avLst/>
          </a:prstGeom>
          <a:solidFill>
            <a:srgbClr val="C9932E"/>
          </a:solidFill>
          <a:ln/>
        </p:spPr>
      </p:sp>
      <p:sp>
        <p:nvSpPr>
          <p:cNvPr id="16" name="Text 14"/>
          <p:cNvSpPr/>
          <p:nvPr/>
        </p:nvSpPr>
        <p:spPr>
          <a:xfrm>
            <a:off x="6446520" y="1664208"/>
            <a:ext cx="502920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이투뉴스 - 고덕신도시 에듀타운 교육특화구역</a:t>
            </a:r>
            <a:endParaRPr lang="en-US" sz="1150" dirty="0"/>
          </a:p>
        </p:txBody>
      </p:sp>
      <p:sp>
        <p:nvSpPr>
          <p:cNvPr id="17" name="Shape 15"/>
          <p:cNvSpPr/>
          <p:nvPr/>
        </p:nvSpPr>
        <p:spPr>
          <a:xfrm>
            <a:off x="6263640" y="2468880"/>
            <a:ext cx="73152" cy="73152"/>
          </a:xfrm>
          <a:prstGeom prst="ellipse">
            <a:avLst/>
          </a:prstGeom>
          <a:solidFill>
            <a:srgbClr val="C9932E"/>
          </a:solidFill>
          <a:ln/>
        </p:spPr>
      </p:sp>
      <p:sp>
        <p:nvSpPr>
          <p:cNvPr id="18" name="Text 16"/>
          <p:cNvSpPr/>
          <p:nvPr/>
        </p:nvSpPr>
        <p:spPr>
          <a:xfrm>
            <a:off x="6446520" y="2322576"/>
            <a:ext cx="502920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뉴스핌 - 국공립어린이집 수급 통계 관련 보도</a:t>
            </a:r>
            <a:endParaRPr lang="en-US" sz="1150" dirty="0"/>
          </a:p>
        </p:txBody>
      </p:sp>
      <p:sp>
        <p:nvSpPr>
          <p:cNvPr id="19" name="Shape 17"/>
          <p:cNvSpPr/>
          <p:nvPr/>
        </p:nvSpPr>
        <p:spPr>
          <a:xfrm>
            <a:off x="6263640" y="3127248"/>
            <a:ext cx="73152" cy="73152"/>
          </a:xfrm>
          <a:prstGeom prst="ellipse">
            <a:avLst/>
          </a:prstGeom>
          <a:solidFill>
            <a:srgbClr val="C9932E"/>
          </a:solidFill>
          <a:ln/>
        </p:spPr>
      </p:sp>
      <p:sp>
        <p:nvSpPr>
          <p:cNvPr id="20" name="Text 18"/>
          <p:cNvSpPr/>
          <p:nvPr/>
        </p:nvSpPr>
        <p:spPr>
          <a:xfrm>
            <a:off x="6446520" y="2980944"/>
            <a:ext cx="502920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나무위키 - 평택시 (동별 인구 현황)</a:t>
            </a:r>
            <a:endParaRPr lang="en-US" sz="1150" dirty="0"/>
          </a:p>
        </p:txBody>
      </p:sp>
      <p:sp>
        <p:nvSpPr>
          <p:cNvPr id="21" name="Shape 19"/>
          <p:cNvSpPr/>
          <p:nvPr/>
        </p:nvSpPr>
        <p:spPr>
          <a:xfrm>
            <a:off x="6263640" y="3785616"/>
            <a:ext cx="73152" cy="73152"/>
          </a:xfrm>
          <a:prstGeom prst="ellipse">
            <a:avLst/>
          </a:prstGeom>
          <a:solidFill>
            <a:srgbClr val="C9932E"/>
          </a:solidFill>
          <a:ln/>
        </p:spPr>
      </p:sp>
      <p:sp>
        <p:nvSpPr>
          <p:cNvPr id="22" name="Text 20"/>
          <p:cNvSpPr/>
          <p:nvPr/>
        </p:nvSpPr>
        <p:spPr>
          <a:xfrm>
            <a:off x="6446520" y="3639312"/>
            <a:ext cx="502920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행정안전부 - 인구감소지역 지원 특별법</a:t>
            </a:r>
            <a:endParaRPr lang="en-US" sz="1150" dirty="0"/>
          </a:p>
        </p:txBody>
      </p:sp>
      <p:sp>
        <p:nvSpPr>
          <p:cNvPr id="23" name="Shape 21"/>
          <p:cNvSpPr/>
          <p:nvPr/>
        </p:nvSpPr>
        <p:spPr>
          <a:xfrm>
            <a:off x="6263640" y="4443984"/>
            <a:ext cx="73152" cy="73152"/>
          </a:xfrm>
          <a:prstGeom prst="ellipse">
            <a:avLst/>
          </a:prstGeom>
          <a:solidFill>
            <a:srgbClr val="C9932E"/>
          </a:solidFill>
          <a:ln/>
        </p:spPr>
      </p:sp>
      <p:sp>
        <p:nvSpPr>
          <p:cNvPr id="24" name="Text 22"/>
          <p:cNvSpPr/>
          <p:nvPr/>
        </p:nvSpPr>
        <p:spPr>
          <a:xfrm>
            <a:off x="6446520" y="4297680"/>
            <a:ext cx="5029200" cy="502920"/>
          </a:xfrm>
          <a:prstGeom prst="rect">
            <a:avLst/>
          </a:prstGeom>
          <a:noFill/>
          <a:ln/>
        </p:spPr>
        <p:txBody>
          <a:bodyPr wrap="square" rtlCol="0" anchor="ctr"/>
          <a:lstStyle/>
          <a:p>
            <a:pPr marL="0" indent="0">
              <a:lnSpc>
                <a:spcPct val="115000"/>
              </a:lnSpc>
              <a:buNone/>
            </a:pPr>
            <a:r>
              <a:rPr lang="en-US" sz="1150" dirty="0">
                <a:solidFill>
                  <a:srgbClr val="1B2430"/>
                </a:solidFill>
                <a:latin typeface="Calibri" pitchFamily="34" charset="0"/>
                <a:ea typeface="Calibri" pitchFamily="34" charset="-122"/>
                <a:cs typeface="Calibri" pitchFamily="34" charset="-120"/>
              </a:rPr>
              <a:t>나비스(NABIS) 균형발전종합정보시스템 - 인구감소대응</a:t>
            </a:r>
            <a:endParaRPr lang="en-US" sz="1150" dirty="0"/>
          </a:p>
        </p:txBody>
      </p:sp>
      <p:sp>
        <p:nvSpPr>
          <p:cNvPr id="25" name="Text 23"/>
          <p:cNvSpPr/>
          <p:nvPr/>
        </p:nvSpPr>
        <p:spPr>
          <a:xfrm>
            <a:off x="548640" y="5943600"/>
            <a:ext cx="11064240" cy="457200"/>
          </a:xfrm>
          <a:prstGeom prst="rect">
            <a:avLst/>
          </a:prstGeom>
          <a:noFill/>
          <a:ln/>
        </p:spPr>
        <p:txBody>
          <a:bodyPr wrap="square"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 위 자료들은 2026년 8월 기준 검색된 정보이며, 정책은 계속 갱신될 수 있으므로 실제 제안 시 최신 공고를 다시 확인하는 것을 권장합니다.</a:t>
            </a:r>
            <a:endParaRPr lang="en-US" sz="1050" dirty="0"/>
          </a:p>
        </p:txBody>
      </p:sp>
      <p:sp>
        <p:nvSpPr>
          <p:cNvPr id="26" name="Text 24"/>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A93A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1462</Words>
  <Application>Microsoft Office PowerPoint</Application>
  <PresentationFormat>와이드스크린</PresentationFormat>
  <Paragraphs>175</Paragraphs>
  <Slides>14</Slides>
  <Notes>14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14</vt:i4>
      </vt:variant>
    </vt:vector>
  </HeadingPairs>
  <TitlesOfParts>
    <vt:vector size="18" baseType="lpstr">
      <vt:lpstr>Arial</vt:lpstr>
      <vt:lpstr>Calibri</vt:lpstr>
      <vt:lpstr>Cambria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3</cp:revision>
  <dcterms:created xsi:type="dcterms:W3CDTF">2026-08-20T07:19:10Z</dcterms:created>
  <dcterms:modified xsi:type="dcterms:W3CDTF">2026-08-20T07:26:43Z</dcterms:modified>
</cp:coreProperties>
</file>